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2087597c49415a" /><Relationship Type="http://schemas.openxmlformats.org/officeDocument/2006/relationships/extended-properties" Target="/docProps/app.xml" Id="R003167b596ff4eb4" /><Relationship Type="http://schemas.openxmlformats.org/officeDocument/2006/relationships/officeDocument" Target="/ppt/presentation.xml" Id="R5606a03a763149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035bce60e4c6e"/>
  </p:sldMasterIdLst>
  <p:notesMasterIdLst>
    <p:notesMasterId xmlns:r="http://schemas.openxmlformats.org/officeDocument/2006/relationships" r:id="R86a577ec95fb4c55"/>
  </p:notesMasterIdLst>
  <p:sldIdLst>
    <p:sldId xmlns:r="http://schemas.openxmlformats.org/officeDocument/2006/relationships" id="256" r:id="R8d378467961b4106"/>
    <p:sldId xmlns:r="http://schemas.openxmlformats.org/officeDocument/2006/relationships" id="257" r:id="R91221f5c0d7f41a4"/>
    <p:sldId xmlns:r="http://schemas.openxmlformats.org/officeDocument/2006/relationships" id="258" r:id="R5fe8e43696814853"/>
    <p:sldId xmlns:r="http://schemas.openxmlformats.org/officeDocument/2006/relationships" id="259" r:id="R32484c3fd1c14f3d"/>
    <p:sldId xmlns:r="http://schemas.openxmlformats.org/officeDocument/2006/relationships" id="260" r:id="R7905ed7a9aed4077"/>
    <p:sldId xmlns:r="http://schemas.openxmlformats.org/officeDocument/2006/relationships" id="261" r:id="Raeaa1307aee34239"/>
    <p:sldId xmlns:r="http://schemas.openxmlformats.org/officeDocument/2006/relationships" id="262" r:id="Rb1fe0839282f4967"/>
    <p:sldId xmlns:r="http://schemas.openxmlformats.org/officeDocument/2006/relationships" id="263" r:id="R17d87d617202444f"/>
    <p:sldId xmlns:r="http://schemas.openxmlformats.org/officeDocument/2006/relationships" id="264" r:id="R1a3446fc21484cba"/>
    <p:sldId xmlns:r="http://schemas.openxmlformats.org/officeDocument/2006/relationships" id="265" r:id="Rf51f319ef10244db"/>
    <p:sldId xmlns:r="http://schemas.openxmlformats.org/officeDocument/2006/relationships" id="266" r:id="R1ce8f8f696c04e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eeaa9afd7b44ea" /><Relationship Type="http://schemas.openxmlformats.org/officeDocument/2006/relationships/slideMaster" Target="/ppt/slideMasters/slideMaster1.xml" Id="R6de035bce60e4c6e" /><Relationship Type="http://schemas.openxmlformats.org/officeDocument/2006/relationships/notesMaster" Target="/ppt/notesMasters/notesMaster1.xml" Id="R86a577ec95fb4c55" /><Relationship Type="http://schemas.openxmlformats.org/officeDocument/2006/relationships/presProps" Target="/ppt/presProps.xml" Id="Ra3b2a34985454912" /><Relationship Type="http://schemas.openxmlformats.org/officeDocument/2006/relationships/tableStyles" Target="/ppt/tableStyles.xml" Id="R9d10989afb794777" /><Relationship Type="http://schemas.openxmlformats.org/officeDocument/2006/relationships/slide" Target="/ppt/slides/slide1.xml" Id="R8d378467961b4106" /><Relationship Type="http://schemas.openxmlformats.org/officeDocument/2006/relationships/slide" Target="/ppt/slides/slide2.xml" Id="R91221f5c0d7f41a4" /><Relationship Type="http://schemas.openxmlformats.org/officeDocument/2006/relationships/slide" Target="/ppt/slides/slide3.xml" Id="R5fe8e43696814853" /><Relationship Type="http://schemas.openxmlformats.org/officeDocument/2006/relationships/slide" Target="/ppt/slides/slide4.xml" Id="R32484c3fd1c14f3d" /><Relationship Type="http://schemas.openxmlformats.org/officeDocument/2006/relationships/slide" Target="/ppt/slides/slide5.xml" Id="R7905ed7a9aed4077" /><Relationship Type="http://schemas.openxmlformats.org/officeDocument/2006/relationships/slide" Target="/ppt/slides/slide6.xml" Id="Raeaa1307aee34239" /><Relationship Type="http://schemas.openxmlformats.org/officeDocument/2006/relationships/slide" Target="/ppt/slides/slide7.xml" Id="Rb1fe0839282f4967" /><Relationship Type="http://schemas.openxmlformats.org/officeDocument/2006/relationships/slide" Target="/ppt/slides/slide8.xml" Id="R17d87d617202444f" /><Relationship Type="http://schemas.openxmlformats.org/officeDocument/2006/relationships/slide" Target="/ppt/slides/slide9.xml" Id="R1a3446fc21484cba" /><Relationship Type="http://schemas.openxmlformats.org/officeDocument/2006/relationships/slide" Target="/ppt/slides/slide10.xml" Id="Rf51f319ef10244db" /><Relationship Type="http://schemas.openxmlformats.org/officeDocument/2006/relationships/slide" Target="/ppt/slides/slide11.xml" Id="R1ce8f8f696c04e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732264ea94f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457944f28149cc" /><Relationship Type="http://schemas.openxmlformats.org/officeDocument/2006/relationships/notesMaster" Target="/ppt/notesMasters/notesMaster1.xml" Id="Raef2fce6fd62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708806a4cc4795" /><Relationship Type="http://schemas.openxmlformats.org/officeDocument/2006/relationships/notesMaster" Target="/ppt/notesMasters/notesMaster1.xml" Id="R5ec8c61360cc42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71d1bcced34415" /><Relationship Type="http://schemas.openxmlformats.org/officeDocument/2006/relationships/notesMaster" Target="/ppt/notesMasters/notesMaster1.xml" Id="R617a526d13794a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9fd3e2a8114d3b" /><Relationship Type="http://schemas.openxmlformats.org/officeDocument/2006/relationships/notesMaster" Target="/ppt/notesMasters/notesMaster1.xml" Id="R758d8884e29841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4bc89f2b0f420a" /><Relationship Type="http://schemas.openxmlformats.org/officeDocument/2006/relationships/notesMaster" Target="/ppt/notesMasters/notesMaster1.xml" Id="R3e9bf414354745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e4eb7e77fa4d9b" /><Relationship Type="http://schemas.openxmlformats.org/officeDocument/2006/relationships/notesMaster" Target="/ppt/notesMasters/notesMaster1.xml" Id="Rd2296f549cc348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4ae526980f43ad" /><Relationship Type="http://schemas.openxmlformats.org/officeDocument/2006/relationships/notesMaster" Target="/ppt/notesMasters/notesMaster1.xml" Id="Rcaa180f32cc146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2290ddc974497d" /><Relationship Type="http://schemas.openxmlformats.org/officeDocument/2006/relationships/notesMaster" Target="/ppt/notesMasters/notesMaster1.xml" Id="R29dc4992a04a45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ce5f863c3a4005" /><Relationship Type="http://schemas.openxmlformats.org/officeDocument/2006/relationships/notesMaster" Target="/ppt/notesMasters/notesMaster1.xml" Id="Reca72a2db28640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a827eb4c174901" /><Relationship Type="http://schemas.openxmlformats.org/officeDocument/2006/relationships/notesMaster" Target="/ppt/notesMasters/notesMaster1.xml" Id="R6735cc45a5eb4f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ec78ed66604c5b" /><Relationship Type="http://schemas.openxmlformats.org/officeDocument/2006/relationships/notesMaster" Target="/ppt/notesMasters/notesMaster1.xml" Id="Racf2a2899a3849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shift: AI changes attacker capability, so the unit of assurance becomes the campaign.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docs/demo/screenshots/apar-console-overview-desktop.png</a:t>
            </a:r>
          </a:p>
          <a:p xmlns:a="http://schemas.openxmlformats.org/drawingml/2006/main">
            <a:r>
              <a:t>- SOLUTION_SPEC.md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entries stop at a fraud classifier. APAR models the operating capability GenAI adds and tests the downstream control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SOLUTION_SPEC.md</a:t>
            </a:r>
          </a:p>
          <a:p xmlns:a="http://schemas.openxmlformats.org/drawingml/2006/main">
            <a:r>
              <a:t>- https://www.bis.org/speeches/20260608-strengthening-security-european-payments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verification and promotion are separate from probabilistic scoring.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docs/02-system-architecture.md</a:t>
            </a:r>
          </a:p>
          <a:p xmlns:a="http://schemas.openxmlformats.org/drawingml/2006/main">
            <a:r>
              <a:t>- docs/08-security-and-governance.md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the story of intellectual honesty: the architecture improved because infeasible, incomplete, and leaky results were rejected.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docs/submission/RESEARCH_AND_EXPERIMENT_JOURNEY.md</a:t>
            </a:r>
          </a:p>
          <a:p xmlns:a="http://schemas.openxmlformats.org/drawingml/2006/main">
            <a:r>
              <a:t>- docs/experiments/defense-v5-rejected-7410a64-record.json</a:t>
            </a:r>
          </a:p>
          <a:p xmlns:a="http://schemas.openxmlformats.org/drawingml/2006/main">
            <a:r>
              <a:t>- docs/experiments/defense-v5-rejected-7f3b78d-record.json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graph arm improves the no-graph frontier at a small latency cost. The full hybrid proves why recall alone is unsafe.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evidence/sentinel-v5-recovered-metrics/verified-report.json</a:t>
            </a:r>
          </a:p>
          <a:p xmlns:a="http://schemas.openxmlformats.org/drawingml/2006/main">
            <a:r>
              <a:t>- docs/submission/EVALUATION_AND_LIMITATIONS.md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accepted Stage 30 ensemble_with_graph bundle. The scorer is real; the scenarios are curated replay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demo/sentinel-v5/manifest.json</a:t>
            </a:r>
          </a:p>
          <a:p xmlns:a="http://schemas.openxmlformats.org/drawingml/2006/main">
            <a:r>
              <a:t>- demo/sentinel-v5/spec.json</a:t>
            </a:r>
          </a:p>
          <a:p xmlns:a="http://schemas.openxmlformats.org/drawingml/2006/main">
            <a:r>
              <a:t>- docs/demo/screenshots/apar-console-replay-desktop.png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linked mule node and genuine deterministic payment edges. Do not invent an analyst productivity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docs/demo/screenshots/apar-console-investigation-desktop.png</a:t>
            </a:r>
          </a:p>
          <a:p xmlns:a="http://schemas.openxmlformats.org/drawingml/2006/main">
            <a:r>
              <a:t>- web/public/data/console-evidence.json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TrustVerifier is a separate authorization-integrity claim—not graph model performance. A probabilistic score cannot repair invalid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src/apar/trust/verifier.py</a:t>
            </a:r>
          </a:p>
          <a:p xmlns:a="http://schemas.openxmlformats.org/drawingml/2006/main">
            <a:r>
              <a:t>- tests/trust/test_verifier.py</a:t>
            </a:r>
          </a:p>
          <a:p xmlns:a="http://schemas.openxmlformats.org/drawingml/2006/main">
            <a:r>
              <a:t>- https://www.mastercard.com/us/en/news-and-trends/stories/2026/mastercard-agentic-commerce-vision.html</a:t>
            </a:r>
          </a:p>
          <a:p xmlns:a="http://schemas.openxmlformats.org/drawingml/2006/main">
            <a:r>
              <a:t>- https://www.nccoe.nist.gov/sites/default/files/2026-02/accelerating-the-adoption-of-software-and-ai-agent-identity-and-authorization-concept-paper.pdf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honest incompleteness is visible. The official chain is incomplete at Stage 70; recovered metrics remain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demo/sentinel-v5/manifest.json</a:t>
            </a:r>
          </a:p>
          <a:p xmlns:a="http://schemas.openxmlformats.org/drawingml/2006/main">
            <a:r>
              <a:t>- evidence/sentinel-v5-recovered-metrics/verified-report.json</a:t>
            </a:r>
          </a:p>
          <a:p xmlns:a="http://schemas.openxmlformats.org/drawingml/2006/main">
            <a:r>
              <a:t>- docs/submission/RELEASE_CHECKLIST.md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trust moment. Be explicit about what remains future work and why that does not diminish the working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docs/submission/EVALUATION_AND_LIMITATIONS.md</a:t>
            </a:r>
          </a:p>
          <a:p xmlns:a="http://schemas.openxmlformats.org/drawingml/2006/main">
            <a:r>
              <a:t>- docs/submission/MODEL_CARD.md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promise and transition into the live console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docs/submission/COMMERCIAL_AND_DEPLOYMENT_PLAN.md</a:t>
            </a:r>
          </a:p>
          <a:p xmlns:a="http://schemas.openxmlformats.org/drawingml/2006/main">
            <a:r>
              <a:t>- docs/submission/FIVE_MINUTE_WALKTHROUGH.md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f6cc4ce11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cb86188ff44f17" /><Relationship Type="http://schemas.openxmlformats.org/officeDocument/2006/relationships/slideLayout" Target="/ppt/slideLayouts/slideLayout1.xml" Id="R15cd6fcb91ad42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d6fcb91ad42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dad8f2e5247f3" /><Relationship Type="http://schemas.openxmlformats.org/officeDocument/2006/relationships/image" Target="/ppt/media/image.png" Id="Rc6105b72098c4972" /><Relationship Type="http://schemas.openxmlformats.org/officeDocument/2006/relationships/notesSlide" Target="/ppt/notesSlides/notesSlide1.xml" Id="Racabd48c9d96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a1be2d7b2444b" /><Relationship Type="http://schemas.openxmlformats.org/officeDocument/2006/relationships/notesSlide" Target="/ppt/notesSlides/notesSlide2.xml" Id="R955b272e75024f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c5fd13b0d4d24" /><Relationship Type="http://schemas.openxmlformats.org/officeDocument/2006/relationships/notesSlide" Target="/ppt/notesSlides/notesSlide3.xml" Id="Re707ad5bab3549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33bc671c4a85" /><Relationship Type="http://schemas.openxmlformats.org/officeDocument/2006/relationships/notesSlide" Target="/ppt/notesSlides/notesSlide4.xml" Id="R27633e47fa5440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5ce2ba1be4efc" /><Relationship Type="http://schemas.openxmlformats.org/officeDocument/2006/relationships/notesSlide" Target="/ppt/notesSlides/notesSlide5.xml" Id="Ra60dd00a65554c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1a9fe7a0c4828" /><Relationship Type="http://schemas.openxmlformats.org/officeDocument/2006/relationships/image" Target="/ppt/media/image2.png" Id="R707547b1984b4bfd" /><Relationship Type="http://schemas.openxmlformats.org/officeDocument/2006/relationships/notesSlide" Target="/ppt/notesSlides/notesSlide6.xml" Id="Rf6f4a0745b0441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efc4fa5ed415c" /><Relationship Type="http://schemas.openxmlformats.org/officeDocument/2006/relationships/image" Target="/ppt/media/image3.png" Id="Rb5aa5534c50c4074" /><Relationship Type="http://schemas.openxmlformats.org/officeDocument/2006/relationships/notesSlide" Target="/ppt/notesSlides/notesSlide7.xml" Id="R2880ef7b694b4c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c7b12ae064041" /><Relationship Type="http://schemas.openxmlformats.org/officeDocument/2006/relationships/image" Target="/ppt/media/image4.png" Id="R8421a73664704653" /><Relationship Type="http://schemas.openxmlformats.org/officeDocument/2006/relationships/notesSlide" Target="/ppt/notesSlides/notesSlide8.xml" Id="R3863e9769d0946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3a071673b49b9" /><Relationship Type="http://schemas.openxmlformats.org/officeDocument/2006/relationships/notesSlide" Target="/ppt/notesSlides/notesSlide9.xml" Id="R2bc317f40328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f0dbd2d5742f8" /><Relationship Type="http://schemas.openxmlformats.org/officeDocument/2006/relationships/notesSlide" Target="/ppt/notesSlides/notesSlide10.xml" Id="R5629ac02b96043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5c47602fe41c7" /><Relationship Type="http://schemas.openxmlformats.org/officeDocument/2006/relationships/notesSlide" Target="/ppt/notesSlides/notesSlide11.xml" Id="Rbd4cb0e891e048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2663E-6580-4554-A00C-0F5E877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MASTERCARD INNOVATION CHALLENGE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DA1BB-4D05-4128-81DC-1AC7C7B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Assure the campaign,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not just the transaction.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11A6B-9BAD-4A44-848D-99A3A703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APAR turns emerging GenAI payment threats into rail-correct synthetic campaigns, tests layered defenses, and preserves a human promotion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E8235-FDA9-43D6-87E0-C584F5E7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743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E879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56285-847C-4F05-8D28-96361E44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SYNTHETIC • OFFLINE • REPLAYABLE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E3118-79A2-4E52-AA96-F1A9B531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Dylan Moraes  •  Competition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3D438-2FED-421C-AAD4-B9AA8E75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"/>
            <a:ext cx="5619750" cy="581025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05b72098c4972"/>
          <a:srcRect xmlns:a="http://schemas.openxmlformats.org/drawingml/2006/main" l="0" t="16347" r="0" b="16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457200"/>
            <a:ext cx="5467350" cy="5657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25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B484F2-D6AC-444D-BB8F-603C7F8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699B5-7D53-4259-B79D-1C737059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GenAI changes the operating model of fraud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661AD-CD7E-4E7E-9AA9-2B4241A2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25D1A-203C-4729-9D8D-68871530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72A8E-F62A-4165-A85D-42F5593A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F524F-3140-488A-8E1B-94AF83E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E157B-2462-4EEE-8F24-EAE16D2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PERSONALIZE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9E8B7-57D3-427B-B722-926E2481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Victim-specific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content at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A1689-EE34-406F-8411-5A74F0A5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527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1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B6EA2-9F09-454B-9E6A-0A0F2999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08FFE-04DF-46AB-8A4A-C1DD4EF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0AA15-3BD9-44B8-860A-0E9ABD0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ITERATE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F79FE-6BBE-4379-B74B-DF3FB36F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Faster adaptation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to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34FF-54A1-43F3-8562-DCF3F16A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1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DF7B4-1532-422C-BD3F-21120F5B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19050">
            <a:solidFill>
              <a:srgbClr val="E87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0FEA0-509C-4AFE-8B75-1A3A2CE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44172-8B30-48CA-BBEE-7AE0329B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68EBF-FB23-4351-A305-B1D3FCAC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Many entities, rails,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and time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716EC-C372-45C8-854A-F1D546F8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1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03DAA-3ED9-48FA-9106-C1967A2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335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B40B1-71B1-4FC5-BAF9-58D45B15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3C54B-FFF0-4F00-BDE5-63B0F2B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DELEGATE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78932-5C70-48E0-9539-698D5562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Agents can act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on user intent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1CAA6-5A39-4FCC-9E3C-9094530A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919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150F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3B00E-4C15-4A3D-B199-1C4C5326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DBDB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Transaction classifier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F0FE0-C803-46E6-AA2B-2A36AA22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958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9BE24-2653-4B91-B96D-424A2351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Campaign-aware assurance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D693D-3D10-4EFC-B311-BF8F48BE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00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ADA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BDAE"/>
                </a:solidFill>
                <a:latin typeface="Menlo"/>
                <a:ea typeface="Menlo"/>
                <a:cs typeface="Menlo"/>
              </a:rPr>
              <a:t>Behavior + lifecycle + economics + authority + governance</a:t>
            </a:r>
          </a:p>
        </p:txBody>
      </p:sp>
    </p:spTree>
    <p:extLst>
      <p:ext uri="{BB962C8B-B14F-4D97-AF65-F5344CB8AC3E}">
        <p14:creationId xmlns:p14="http://schemas.microsoft.com/office/powerpoint/2010/main" val="656484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E71A0-BB96-4633-B17F-AAB56CE7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E93A-8A32-46F8-90F3-4F480F6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One assurance loop connects five control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2BC74-D02D-4E32-87E6-1C212AF5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D2AB8-7E7E-4B51-A432-7B1D10E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B38F3-2B05-48DF-964F-EDAEC1BE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2038350" cy="22479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2D783-9CCC-471F-85F8-D609BCA1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5D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C6E24-E084-42DB-8E6E-36B19F8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Evidence + sources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threat registry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086F3-45A5-4843-BC26-D3F13D1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D7F37-7B39-4C4E-8247-0CE58910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90700"/>
            <a:ext cx="2038350" cy="22479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90910-A234-44FA-BC3F-418B0ED3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GENERATE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1E12D-CE70-4679-A81F-72740733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Rail + ledger-correct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campaigns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89BDA-0EB6-4E36-A45E-B3D2F4C4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95886-684D-49CF-B80C-2DB479F5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2038350" cy="22479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19050">
            <a:solidFill>
              <a:srgbClr val="75B7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4A8B5-8AB2-478D-B811-834B60CA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B78E"/>
                </a:solidFill>
                <a:latin typeface="Menlo"/>
                <a:ea typeface="Menlo"/>
                <a:cs typeface="Menlo"/>
              </a:rPr>
              <a:t>DEFEND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C8AF7-80EC-442D-8707-F53570CD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908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Rules + calibrated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graph ensemble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74E15-B980-4636-903F-985C839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D626A-1403-4CD2-A12D-06A95337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90700"/>
            <a:ext cx="2038350" cy="22479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AFC17-8BCD-4407-A060-4D00FFF5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5D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8FF4D-AF69-4539-85B4-8441188A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Identity + intent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6B951-C1AF-4503-BBBC-6B23C226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79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3EEB4-3996-4701-97EF-CBCE4D7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2038350" cy="22479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0AB52-B030-4423-AC0E-56CB05FF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GOVERN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7AD7E-C974-468E-8DF3-9059A325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Controls + human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promotion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3B34A-C69B-4D03-9BF6-0E6E3E6B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41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F50"/>
          </a:solidFill>
          <a:ln xmlns:a="http://schemas.openxmlformats.org/drawingml/2006/main" w="0">
            <a:solidFill>
              <a:srgbClr val="6B5F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5B646-8DE4-4F45-A0B0-6272ABC2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24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0">
            <a:solidFill>
              <a:srgbClr val="E879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AF867-DEA6-4A4E-909D-9754E401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524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0">
            <a:solidFill>
              <a:srgbClr val="E879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E9CEF-DB64-40B8-A7B7-64D4E8D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24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0">
            <a:solidFill>
              <a:srgbClr val="E879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64650-F678-4CAF-AE53-8D4B7093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24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0">
            <a:solidFill>
              <a:srgbClr val="E879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04AF8B-026C-4250-A7DD-6B92CB3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524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0">
            <a:solidFill>
              <a:srgbClr val="E879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AB63E-A8ED-42EE-A3CF-26C15625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Bounded feedback returns failed controls to the research backlog—never directly to deployment.</a:t>
            </a:r>
          </a:p>
        </p:txBody>
      </p:sp>
    </p:spTree>
    <p:extLst>
      <p:ext uri="{BB962C8B-B14F-4D97-AF65-F5344CB8AC3E}">
        <p14:creationId xmlns:p14="http://schemas.microsoft.com/office/powerpoint/2010/main" val="1173539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B39A34-A16C-4371-B0ED-0B32FF06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E5A4F-D016-40F4-9D62-40CCB159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Failed experiments shaped the winning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412FF-CB03-43C3-9FCE-4CBF56E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9A62F-7882-41E3-9A59-F2FC2CB1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40ACF-1A94-48A2-8F7C-481C6549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F50"/>
          </a:solidFill>
          <a:ln xmlns:a="http://schemas.openxmlformats.org/drawingml/2006/main" w="0">
            <a:solidFill>
              <a:srgbClr val="6B5F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7B32-7693-4CBF-89A4-E6E8DECD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4FB84-F785-44A5-9D96-25FA15B1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269B9-B11B-4F6D-928E-95DFAE6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Workload cap 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A8C52-2C27-4EEE-8F67-10C00931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1.7857% review floor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vs 1%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69DC8-4B40-4E66-8429-BC4F4A94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19050">
            <a:solidFill>
              <a:srgbClr val="0A090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41893-C9B3-4A13-9AD9-D7004D3D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1470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0BB46-A9AF-4FDA-BCA1-E9435D6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V4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EFD27-C315-427E-A562-1F15C005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814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Missing metrics failed closed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A8DB2-C8FF-454B-BA6D-C479C218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Calibration + alert time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were not invented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4BE53-B6B3-4A21-8A34-799D07A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19050">
            <a:solidFill>
              <a:srgbClr val="0A090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187B9-4A79-4D33-A23D-742599F5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8115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99CBB-4F88-4770-8BE4-C912C22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33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V5a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51109-9D7E-4E1E-ADCA-E512D13E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4787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Perfect score rejected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A39DE-864A-4A8E-99DD-948EDACA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Future graph leakage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removed and recorded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41B8F-B7E4-4A4B-8904-F67067C9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19050">
            <a:solidFill>
              <a:srgbClr val="0A090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C207A-87BA-4BC7-8A92-BAB899BC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1470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F829D-AFDC-4139-985A-3499B2FD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67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V5b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AC6D8-B4BD-4B15-9AEA-F4DE05A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814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Real rail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E71EB-9FC8-468C-8F28-7F935AE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Generator → simulator →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rail → ledger → row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C3223-926F-46F4-B428-B694D6A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3D"/>
          </a:solidFill>
          <a:ln xmlns:a="http://schemas.openxmlformats.org/drawingml/2006/main" w="19050">
            <a:solidFill>
              <a:srgbClr val="0A090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78896D-CDFE-424F-969C-6DB1EC30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8115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19050">
            <a:solidFill>
              <a:srgbClr val="75B7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021B6-52F3-447D-8B1C-1883BE3C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33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B78E"/>
                </a:solidFill>
                <a:latin typeface="Menlo"/>
                <a:ea typeface="Menlo"/>
                <a:cs typeface="Menlo"/>
              </a:rPr>
              <a:t>V5c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989FA-E23B-408C-91D9-2483D28F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4787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7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Graph arm selected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22E0A-D7CE-4530-9B41-1D55C1F0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Best frontier;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full hybrid rejected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97D1B-557D-4C5C-94CB-EAEF24EF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78E"/>
          </a:solidFill>
          <a:ln xmlns:a="http://schemas.openxmlformats.org/drawingml/2006/main" w="19050">
            <a:solidFill>
              <a:srgbClr val="0A090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AE123-251A-4440-80C6-2AC1CD5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Novelty: not a single algorithm—an evidence-governed loop that learns from its own failure modes.</a:t>
            </a:r>
          </a:p>
        </p:txBody>
      </p:sp>
    </p:spTree>
    <p:extLst>
      <p:ext uri="{BB962C8B-B14F-4D97-AF65-F5344CB8AC3E}">
        <p14:creationId xmlns:p14="http://schemas.microsoft.com/office/powerpoint/2010/main" val="777088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169E4C-3AFC-4B96-8180-62EA8447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35148-CD4B-4094-9C33-E8AB52A8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Graph context wins the operational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52153-FE07-4563-864B-D832AA83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50342-EF95-48DD-B856-5D273C79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7E7FC-9518-4326-9539-49F6CA3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Verified recovered diagnostics — synthetic and non-authoritative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B22FF-949B-42A4-974F-39A2D9EA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857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2E6F3-BE39-41A1-8A97-59FCC53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ARM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E3D17-94DA-435F-9B42-8254987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05000"/>
            <a:ext cx="1428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071C1-C1CA-4DAC-B6BF-89ADD3C0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RECALL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90ABE-15A1-46E1-AD50-6977D528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05000"/>
            <a:ext cx="1428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62B33-3654-4915-AC8D-F6E5623B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383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PRECISION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09A4D-79E6-4F36-BB2F-F5AF907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1428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BE949-169C-49A4-8C4E-3A8627DF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F1 %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B9345-5840-4D59-84AB-B4090A34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1809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F6432-E263-4AF4-A618-C1F6FE7C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38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FALSE-DECLINE 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A488B-7323-4C16-AE1D-810C6640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05000"/>
            <a:ext cx="1428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EBB97-A061-43A2-BE0E-029ACCC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383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P95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91676-6985-406A-ACE3-7C07D8A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85750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0E0B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FD9BD-704F-48A3-8F67-CBEB8B87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622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Arial"/>
                <a:ea typeface="Arial"/>
                <a:cs typeface="Arial"/>
              </a:rPr>
              <a:t>Rules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E30EE-07CD-452F-AE1E-88D1460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0E0B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CBDC0-8838-4776-B1F5-060B2B6E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62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85.95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6A15B-3166-440A-B04B-CE175FD2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0E0B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D1887-F347-404E-AD00-37C2CDA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62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14.88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B6CFD-FD78-421F-AF42-510ED7EB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0E0B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88DCA-86F3-4E4E-A5EB-A9329682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62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25.37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54517A-D550-4687-BA9F-3E32446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1809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0E0B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E35B8-C038-4061-A7C4-BF1888B9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622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87.44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56346-B65E-44CE-A073-73CB7DA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0E0B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A1112-CFD1-4CFA-8859-F851C76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62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4.06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50F37-3028-47E1-AEEA-8DB6CD6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85750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7C94A-3FE2-429F-A6F1-FA3AB4F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Arial"/>
                <a:ea typeface="Arial"/>
                <a:cs typeface="Arial"/>
              </a:rPr>
              <a:t>Ensemble • no graph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019D65-A740-48C9-ABA4-A88625D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908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23B9B-FBEE-477B-86E6-2D720947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908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99.74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708E9-4167-410F-B92C-763CE4F8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83FAC0-F1BF-4563-9D50-7A900FC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908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94.76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5EEC0A-60E3-4DC3-A84B-B530D73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61805A-CCF5-42BA-9991-CD41E6A7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97.19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B89D7B-2EA8-41DC-9852-502D21C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90850"/>
            <a:ext cx="1809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758564-BF5C-4B06-871C-5E8B186E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0.000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C26406-CB5A-4CBD-9ACD-BB52C66E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3F382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CF33F9-71E3-40A7-AF2F-6B91E58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908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E9DC"/>
                </a:solidFill>
                <a:latin typeface="Menlo"/>
                <a:ea typeface="Menlo"/>
                <a:cs typeface="Menlo"/>
              </a:rPr>
              <a:t>3.38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8D2516-BE64-45A2-BFBE-2C1EA34B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285750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8D8831-A7F7-4456-B52B-D037F290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Ensemble • graph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5D003A-6208-436C-9EFE-534E04D1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195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295045-9FCE-469E-AA43-C10BE932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99.87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D45669-F647-48AA-8BC8-C6CF8E36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F0514F-98D1-4C7B-A909-F400427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19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95.88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DBBD49-AE4F-4360-9CB9-8AF4A0C3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5C2804-9E7E-4E49-BDD4-B4D6CA53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9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97.83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CEEAFB-7FBC-44A0-9166-F49C89A0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1809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B6464C-9389-4F12-A8CE-A0831A44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195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0.0037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EFF361-43B1-489E-B878-A8CB077B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A40690-74DA-4867-9C97-CC2A9BB5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19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3.54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AF650-D62D-4367-B7A9-33CE4A7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285750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1512"/>
          </a:solidFill>
          <a:ln xmlns:a="http://schemas.openxmlformats.org/drawingml/2006/main" w="9525">
            <a:solidFill>
              <a:srgbClr val="E35E5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7202A5-37A5-4D90-9165-EE5F3465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481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8A80"/>
                </a:solidFill>
                <a:latin typeface="Arial"/>
                <a:ea typeface="Arial"/>
                <a:cs typeface="Arial"/>
              </a:rPr>
              <a:t>Full hybrid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D3B599-9993-40E2-925B-733BE86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1512"/>
          </a:solidFill>
          <a:ln xmlns:a="http://schemas.openxmlformats.org/drawingml/2006/main" w="9525">
            <a:solidFill>
              <a:srgbClr val="E35E5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00C2E8-DEFE-4F09-93A0-06A22643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481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8A80"/>
                </a:solidFill>
                <a:latin typeface="Menlo"/>
                <a:ea typeface="Menlo"/>
                <a:cs typeface="Menlo"/>
              </a:rPr>
              <a:t>99.93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B04B25-268D-40EA-9317-CE3C261D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481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1512"/>
          </a:solidFill>
          <a:ln xmlns:a="http://schemas.openxmlformats.org/drawingml/2006/main" w="9525">
            <a:solidFill>
              <a:srgbClr val="E35E5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A5B9C9-1578-4647-82F3-F0F36D1A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8A80"/>
                </a:solidFill>
                <a:latin typeface="Menlo"/>
                <a:ea typeface="Menlo"/>
                <a:cs typeface="Menlo"/>
              </a:rPr>
              <a:t>16.85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BA11D0-47A1-4097-B213-4271D39B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1512"/>
          </a:solidFill>
          <a:ln xmlns:a="http://schemas.openxmlformats.org/drawingml/2006/main" w="9525">
            <a:solidFill>
              <a:srgbClr val="E35E5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3FEA46-FA18-41FF-8AF6-EBCDD253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481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8A80"/>
                </a:solidFill>
                <a:latin typeface="Menlo"/>
                <a:ea typeface="Menlo"/>
                <a:cs typeface="Menlo"/>
              </a:rPr>
              <a:t>28.83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0E3847-2C89-43AC-8EAD-637BD9C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8150"/>
            <a:ext cx="1809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1512"/>
          </a:solidFill>
          <a:ln xmlns:a="http://schemas.openxmlformats.org/drawingml/2006/main" w="9525">
            <a:solidFill>
              <a:srgbClr val="E35E5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31CF3B-8398-45F9-99D9-51DE5F51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481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8A80"/>
                </a:solidFill>
                <a:latin typeface="Menlo"/>
                <a:ea typeface="Menlo"/>
                <a:cs typeface="Menlo"/>
              </a:rPr>
              <a:t>87.44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2BBDF8-8D64-4C7D-81CC-B4592A9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1428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1512"/>
          </a:solidFill>
          <a:ln xmlns:a="http://schemas.openxmlformats.org/drawingml/2006/main" w="9525">
            <a:solidFill>
              <a:srgbClr val="E35E5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7B32FC-1618-48B1-9C6C-9173B28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481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8A80"/>
                </a:solidFill>
                <a:latin typeface="Menlo"/>
                <a:ea typeface="Menlo"/>
                <a:cs typeface="Menlo"/>
              </a:rPr>
              <a:t>19.74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94D657-EC04-4867-8F48-B0C242C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E8793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4112FA-B1D1-4C01-927C-344ECE58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Precision  +1.12 pts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DA86D9-C8AB-423C-98D7-4977BF69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29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Challenge  −0.23 pts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2C2595-7DD5-412F-A337-6F62744C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Latency  +0.16 ms p95</a:t>
            </a:r>
          </a:p>
        </p:txBody>
      </p:sp>
    </p:spTree>
    <p:extLst>
      <p:ext uri="{BB962C8B-B14F-4D97-AF65-F5344CB8AC3E}">
        <p14:creationId xmlns:p14="http://schemas.microsoft.com/office/powerpoint/2010/main" val="557983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AF068-8EF0-4EE3-8C40-1FA39E1D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4CE5E-3628-485C-A26A-4AB81223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A small, portable model powers the 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D5B39-90F6-4C6D-A927-08B30DD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71FFA-EDD8-4C21-AAD1-0CC4B5DD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75754-85B9-4C6D-B6B6-CB16BBC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0"/>
            <a:ext cx="725805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547b1984b4bfd"/>
          <a:srcRect xmlns:a="http://schemas.openxmlformats.org/drawingml/2006/main" l="0" t="33403" r="0" b="33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00200"/>
            <a:ext cx="7105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38FD1-6841-4813-902E-1B1BD932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886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296F9-7CD9-4919-94E4-BFD7AFF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19A68"/>
                </a:solidFill>
                <a:latin typeface="Georgia"/>
                <a:ea typeface="Georgia"/>
                <a:cs typeface="Georgia"/>
              </a:rPr>
              <a:t>3 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4127B-DB6C-48FF-8DB8-EE9C2AA1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192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CatBoost members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C0702-D640-4130-AA4E-9783B55C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3886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EB3EC-6C03-4B35-8AEF-E88BC79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527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19A68"/>
                </a:solidFill>
                <a:latin typeface="Georgia"/>
                <a:ea typeface="Georgia"/>
                <a:cs typeface="Georgia"/>
              </a:rPr>
              <a:t>46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24959-66BC-49F5-A910-DD84A4A0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9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frozen causal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9100C-18CF-4A46-9870-6034931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81400"/>
            <a:ext cx="3886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1D3CE-F99E-496D-BA73-1D89764B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19A68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8D815-9822-4869-BC81-8E48E79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004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hash-bound scenarios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FFE03-0064-44B1-A505-CE27939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3886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19050">
            <a:solidFill>
              <a:srgbClr val="75B7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A9416-080C-4BED-B3D8-8096E007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339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5B78E"/>
                </a:solidFill>
                <a:latin typeface="Georgia"/>
                <a:ea typeface="Georgia"/>
                <a:cs typeface="Georgia"/>
              </a:rPr>
              <a:t>0.0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98A2E-8C78-44AB-AFC5-2814C2C0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91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max replay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89769-56C1-4D5F-8AE7-38F5B9C3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626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C9183"/>
                </a:solidFill>
                <a:latin typeface="Menlo"/>
                <a:ea typeface="Menlo"/>
                <a:cs typeface="Menlo"/>
              </a:rPr>
              <a:t>Approve • Challenge • Review hold • Decline hold</a:t>
            </a:r>
          </a:p>
        </p:txBody>
      </p:sp>
    </p:spTree>
    <p:extLst>
      <p:ext uri="{BB962C8B-B14F-4D97-AF65-F5344CB8AC3E}">
        <p14:creationId xmlns:p14="http://schemas.microsoft.com/office/powerpoint/2010/main" val="4112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D68E1-79D2-4CCC-BF81-92E162F7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3CB0E-30BD-45A1-89EA-C3560809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Investigators see one campaign—not twelve alerts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E3F60-A0DF-4D72-BA8E-E3A43D09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7F21E-1326-4851-A3BB-0EFA704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E2608-6910-438F-AF0B-F96A0DEA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47800"/>
            <a:ext cx="8191500" cy="4705350"/>
          </a:xfrm>
          <a:prstGeom xmlns:a="http://schemas.openxmlformats.org/drawingml/2006/main" prst="roundRect">
            <a:avLst>
              <a:gd name="adj" fmla="val 2429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a5534c50c4074"/>
          <a:srcRect xmlns:a="http://schemas.openxmlformats.org/drawingml/2006/main" l="0" t="29622" r="0" b="29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0" y="1524000"/>
            <a:ext cx="8039100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C3AF7-540D-4F4A-9835-9C18A1D9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37DFF-5802-4465-8AB6-5B0137C5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B78E"/>
                </a:solidFill>
                <a:latin typeface="Menlo"/>
                <a:ea typeface="Menlo"/>
                <a:cs typeface="Menlo"/>
              </a:rPr>
              <a:t>CASE-CENTRIC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E059D-27B6-48C4-B8D7-9D3AC388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19A68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47666-2BB4-4384-942C-39E8850C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entities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DB8A3-4D77-4A62-87F2-58695BDD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19A68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65025-2457-4F55-A64C-F49B6798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payment edges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FC477-72AD-4A68-8416-B61BBE0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19A68"/>
                </a:solidFill>
                <a:latin typeface="Georgia"/>
                <a:ea typeface="Georgia"/>
                <a:cs typeface="Georgia"/>
              </a:rPr>
              <a:t>$500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39F33-6B12-4F23-86F3-E7C7970D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9183"/>
                </a:solidFill>
                <a:latin typeface="Arial"/>
                <a:ea typeface="Arial"/>
                <a:cs typeface="Arial"/>
              </a:rPr>
              <a:t>conserved synthetic 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6F911-99F4-48D9-BC64-2D0648C5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2895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B0143-8A64-4A68-9EA6-1E5F98A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8BDAE"/>
                </a:solidFill>
                <a:latin typeface="Menlo"/>
                <a:ea typeface="Menlo"/>
                <a:cs typeface="Menlo"/>
              </a:rPr>
              <a:t>Analyst-time benefit: evidence pending</a:t>
            </a:r>
          </a:p>
        </p:txBody>
      </p:sp>
    </p:spTree>
    <p:extLst>
      <p:ext uri="{BB962C8B-B14F-4D97-AF65-F5344CB8AC3E}">
        <p14:creationId xmlns:p14="http://schemas.microsoft.com/office/powerpoint/2010/main" val="450246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129D9E-812B-496A-A118-0BF290CF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80060-449E-4931-BDE6-E3D27223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Agentic commerce needs proof before probability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9148B-0A4E-4AA5-B3C9-234E282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A3DD2-9BE6-4282-BA2B-B31D337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2484F-AC58-4835-BB5A-25561891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724150" cy="472440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1a73664704653"/>
          <a:srcRect xmlns:a="http://schemas.openxmlformats.org/drawingml/2006/main" l="0" t="38568" r="0" b="38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1543050"/>
            <a:ext cx="2571750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D4F54-C653-4BDC-9C7E-C56958CE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623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C2D07-670D-4814-9753-CA4719E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BE0F4-E13B-4255-B8DE-3D896A56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716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3FD10-738D-4953-BD52-E364B539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Agent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8E510-34E0-4FBA-9785-BAA35979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5623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80FBA-0F27-436B-A9A8-C7F0D88A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2ECA4-B463-448E-AECF-7931C7C8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146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1EE93-118E-4250-AC0B-F631AB06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User mandate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E6773-97DE-4494-8458-ABBD9997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35623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C9B34-3080-4FE7-B3BD-21AA317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620FA-972C-4719-BC9D-FCEBCD4F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576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2D9FC-637A-4F2E-A26D-4707CB7F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Scope + amount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7346A-04B3-4F81-BD7F-B60CB21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35623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17796-EE45-4BD6-B52C-98317C25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FF3B0-2D5F-4EE2-900B-BDAD1C5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716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34312-6CA8-4DC7-A618-8197F9BF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Merchant + cart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F3DF7-E154-412A-8C01-8DACFAEE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38450"/>
            <a:ext cx="35623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3EE82-ADDA-4574-8030-1D9BDE5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9685E-1D89-44F3-9A24-854408BF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146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7890-0DBC-4528-8D3C-411BEB31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Expiry + nonce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CF9C0-46F7-4D31-B78C-8BF23D3D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81450"/>
            <a:ext cx="35623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8BE65-271B-4705-BE5A-45770A48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BD13B-AF36-4320-8C09-87E713C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576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EB994B-DC2B-48EB-A2B7-EC78BE29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38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Replay rejection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3EDCD-6FBB-425B-9BD1-4258D0C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746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9525">
            <a:solidFill>
              <a:srgbClr val="E35E5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D275D9-7231-4A43-A4FA-47DEE38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8A80"/>
                </a:solidFill>
                <a:latin typeface="Menlo"/>
                <a:ea typeface="Menlo"/>
                <a:cs typeface="Menlo"/>
              </a:rPr>
              <a:t>DEFINITIVE FAILURE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8B4499-8506-4A2B-840B-97AE657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DECLINE_HOLD before statistical risk</a:t>
            </a:r>
          </a:p>
        </p:txBody>
      </p:sp>
    </p:spTree>
    <p:extLst>
      <p:ext uri="{BB962C8B-B14F-4D97-AF65-F5344CB8AC3E}">
        <p14:creationId xmlns:p14="http://schemas.microsoft.com/office/powerpoint/2010/main" val="10810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0DAA5-E113-477A-9C5D-CE4DB51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11DBF-6493-4175-A006-C6FB0B19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Evidence governance is part of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960D7-88EB-4353-A9E2-E8913DEF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1B290-2A6E-450E-BE60-92C63F9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2E068-1AF3-4013-A53A-AC5D4D42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038350" cy="26289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FE0D1-9371-4158-82C9-D8FAD168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10A1C-2805-4E76-AE96-4BFAE20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Causal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2CF28-CB3B-4CD2-9819-4BD779B8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Future append + equal-time 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A49D0-70D1-47D4-ADB7-5E240350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62150"/>
            <a:ext cx="2038350" cy="25336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5B9C0-E3A5-4B82-8369-E410F52B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52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4E335-F912-48B3-941B-4B430EE7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289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Executed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CF7CA-BBFA-4828-B41C-C0BA73C8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Shuffle, rename, leakage, single-class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BAF2E-323C-4EBF-83BB-F71A4EE0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28850"/>
            <a:ext cx="2038350" cy="24384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FB074-A7FC-4929-AD1B-F44CC2E8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19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C871F-35EF-48D6-9205-D984A73F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956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Immutable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BC041-D6C6-4F9B-81D2-5957272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385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Models, traces, metrics, manifests hashed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E9FEF-1311-4BAF-86F8-E19F93CA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2038350" cy="23431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0FF9B-DF0A-4061-A874-3C92F4C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F5EEE-6FB7-4AF8-86B8-F31E33F1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Independent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37BEF-52C1-4F17-9BB2-3E0903F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052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Fresh environment re-scores all 12 cases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D6A41-815F-4891-9F0E-67F1CD19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62250"/>
            <a:ext cx="2038350" cy="22479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19050">
            <a:solidFill>
              <a:srgbClr val="75B7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A7652-22E8-4A17-B625-308582A2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9D2F2-4F30-4046-A0AC-0511DCE2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Human promotion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4437D-98A1-407D-986C-CD93A2F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7195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8D8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The model cannot approve itself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8F7B4-51C7-45F0-A451-BB14AFBB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C9183"/>
                </a:solidFill>
                <a:latin typeface="Menlo"/>
                <a:ea typeface="Menlo"/>
                <a:cs typeface="Menlo"/>
              </a:rPr>
              <a:t>Portable bundle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25E6A8-7E85-4203-A413-F8E4B92E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52ed4c31…dbc900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60CAA-7CB3-4128-9756-672E51FA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C9183"/>
                </a:solidFill>
                <a:latin typeface="Menlo"/>
                <a:ea typeface="Menlo"/>
                <a:cs typeface="Menlo"/>
              </a:rPr>
              <a:t>Official chain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5FA09-4E1D-4BB3-ABCD-4902E573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10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4A359"/>
                </a:solidFill>
                <a:latin typeface="Menlo"/>
                <a:ea typeface="Menlo"/>
                <a:cs typeface="Menlo"/>
              </a:rPr>
              <a:t>Stops at Stage 60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7121BD-8CF8-4F90-9C74-8A5E2F53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3875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F12"/>
          </a:solidFill>
          <a:ln xmlns:a="http://schemas.openxmlformats.org/drawingml/2006/main" w="9525">
            <a:solidFill>
              <a:srgbClr val="D4A35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112C00-6F4F-488D-9B19-A629AE1F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95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4A359"/>
                </a:solidFill>
                <a:latin typeface="Menlo"/>
                <a:ea typeface="Menlo"/>
                <a:cs typeface="Menlo"/>
              </a:rPr>
              <a:t>STAGE 70 NOT CLAIMED</a:t>
            </a:r>
          </a:p>
        </p:txBody>
      </p:sp>
    </p:spTree>
    <p:extLst>
      <p:ext uri="{BB962C8B-B14F-4D97-AF65-F5344CB8AC3E}">
        <p14:creationId xmlns:p14="http://schemas.microsoft.com/office/powerpoint/2010/main" val="5732388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AEF9E4-2BC6-44C6-BA04-75B741D8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0C569-FE8F-4580-B9E1-9D989F10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A sharp claim boundary makes the demo credible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B2B55-68F4-4EB5-BBDC-77AAC282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A4B30-D851-42D6-8BE3-64697B25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EF88A-807C-4FDC-8C79-F2B5A2E2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102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19050">
            <a:solidFill>
              <a:srgbClr val="75B7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CA2CC-0ADE-4898-BC3D-7ED5008E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7721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B1512"/>
          </a:solidFill>
          <a:ln xmlns:a="http://schemas.openxmlformats.org/drawingml/2006/main" w="19050">
            <a:solidFill>
              <a:srgbClr val="E35E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DFE7C-6B56-4809-94B6-1D3D702A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B78E"/>
                </a:solidFill>
                <a:latin typeface="Menlo"/>
                <a:ea typeface="Menlo"/>
                <a:cs typeface="Menlo"/>
              </a:rPr>
              <a:t>WHAT WE 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C2535-680E-4920-9CA3-8194472C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8A80"/>
                </a:solidFill>
                <a:latin typeface="Menlo"/>
                <a:ea typeface="Menlo"/>
                <a:cs typeface="Menlo"/>
              </a:rPr>
              <a:t>WHAT WE DO NOT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25802-2019-41B4-8250-0277B6E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75E11-4201-48D3-AAE0-AB525599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Portable model loads and replays exactly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E1162-1158-49F5-B1EB-9869F53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58EB2-10C8-4B61-A8CF-0443807D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Four rail-backed synthetic 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7E7A5-FD34-40ED-BCC9-9356BFB4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6CD72-1875-4A36-9ACA-8DC4CC6B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Graph/no-graph architecture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86EB5-6C7C-483E-A5C3-185B2145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5FDE6-BA21-422B-AD18-B08633A1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Deterministic TrustVerifier integrity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1E399-0858-4F2E-B6BE-53BAADEE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B78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92827-6DD2-41F1-9026-EE2F2F6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Offline console + hash-bound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14BC2-71D8-4ADA-BE13-04FC367F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A8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86A40-CA53-45C0-9B62-2844744B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Production or real-cardholder performance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6B2B0-FD25-4EEC-9845-DBBC019B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A8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32866-3AC1-4E36-8FF4-9394E61D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Accepted official Stage 70 capacity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D8F7D-333C-4796-AEA0-2F56B281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A8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EDC30-A248-4F85-85C6-63AAE72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External or multi-institution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5EA8A-260E-484B-B0EE-544E2C2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A8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885AA-B983-4F01-A8DC-6C6B6D1B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Autonomous model promotion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DFDB2-CFA1-4445-8ABC-F864DF8B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43C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A8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5FB39-5FAF-40D7-AF48-8F8F0DD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E9DC"/>
                </a:solidFill>
                <a:latin typeface="Arial"/>
                <a:ea typeface="Arial"/>
                <a:cs typeface="Arial"/>
              </a:rPr>
              <a:t>Full Sentinel as the champion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E8F08C-7ABB-4C28-B8DC-60AFC560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Synthetic evidence before assertion.</a:t>
            </a:r>
          </a:p>
        </p:txBody>
      </p:sp>
    </p:spTree>
    <p:extLst>
      <p:ext uri="{BB962C8B-B14F-4D97-AF65-F5344CB8AC3E}">
        <p14:creationId xmlns:p14="http://schemas.microsoft.com/office/powerpoint/2010/main" val="640423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9A0D2F-F841-4A1B-8423-1BA2FFD9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ADAPTIVE PAYMENT ASSURANCE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4976E-A983-47C7-8DC7-4EA13E68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From competition prototype to governed payment 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4D601-0DA1-4CA6-A9F8-2A074DC7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BAFD3-7B63-432C-B161-EBE6D9F6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82E"/>
          </a:solidFill>
          <a:ln xmlns:a="http://schemas.openxmlformats.org/drawingml/2006/main" w="0">
            <a:solidFill>
              <a:srgbClr val="3F38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A03DC-8513-4AF9-A87B-5C30FB2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019300" cy="20764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211B14"/>
          </a:solidFill>
          <a:ln xmlns:a="http://schemas.openxmlformats.org/drawingml/2006/main" w="19050">
            <a:solidFill>
              <a:srgbClr val="E879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1D32F-6B1E-48BA-AB70-7C48C4E6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64A2-81E2-419E-AF5E-563783C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OFFLINE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01511-C79A-4DEE-AFD7-C7DEE5C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Authorized historical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6AA0E-B2BB-4EDE-A67B-1DEE4033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97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BDA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B163-8957-4436-A8A9-B9424A07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52600"/>
            <a:ext cx="2019300" cy="20764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4650C-07E1-4A23-809D-549CFB45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43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C7E05-CBF7-41A4-8136-2D767885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SHADOW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CDBF0-97EA-4CAA-B4F7-231936D5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051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Live features; no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E37B0-DE99-45B9-8141-8DC2C46B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97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BDA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7EF35-37C6-49A5-B2B4-DA79A7A4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2019300" cy="20764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3F900-E5BC-47EC-A027-9AB9AA57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43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B16CC-AE1A-44D4-823B-4224330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ASSISTED 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BC6BB-51FC-4398-B420-2B642072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Human-controlled friction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B66E6-EFA4-4E60-AD6C-A43C98DD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97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BDA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98618-261C-4D2D-957B-C48A36E9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2019300" cy="20764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8C0A7-E632-4BC1-9256-53A3D3C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43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7F518-2174-44F7-8B7A-191E8368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CHALLENGER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0B773-B20B-49ED-91BF-AFECD0C3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051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Limited traffic + rollback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F4431-0C6F-409B-ABBC-454071E2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97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BDA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38A20-CCD2-47F4-A072-05451441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2019300" cy="20764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4110D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4A78F-2519-4D09-A701-EF39BF59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65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9A68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FC31E-2057-4A71-B953-BE2A90DC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E9DC"/>
                </a:solidFill>
                <a:latin typeface="Menlo"/>
                <a:ea typeface="Menlo"/>
                <a:cs typeface="Menlo"/>
              </a:rPr>
              <a:t>GOVERNED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97CA1-F276-4853-8878-83912FFF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BDAE"/>
                </a:solidFill>
                <a:latin typeface="Arial"/>
                <a:ea typeface="Arial"/>
                <a:cs typeface="Arial"/>
              </a:rPr>
              <a:t>Continuous adversarial regression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13DF4-CF8A-40F4-9E97-D88F4CFB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391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50F"/>
          </a:solidFill>
          <a:ln xmlns:a="http://schemas.openxmlformats.org/drawingml/2006/main" w="9525">
            <a:solidFill>
              <a:srgbClr val="6B5F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4AED2-3C3C-4D7E-9670-CE713AF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APAR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4AA32-3DA2-43BD-8CB7-7CC2BCF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72000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Assure the campaign. Verify the intent.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9DC"/>
                </a:solidFill>
                <a:latin typeface="Georgia"/>
                <a:ea typeface="Georgia"/>
                <a:cs typeface="Georgia"/>
              </a:rPr>
              <a:t>Promote only the evidence.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66D88A-E4C3-4419-984B-CCEAC40F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19650"/>
            <a:ext cx="1581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82A"/>
          </a:solidFill>
          <a:ln xmlns:a="http://schemas.openxmlformats.org/drawingml/2006/main" w="9525">
            <a:solidFill>
              <a:srgbClr val="75B78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FAE6B-8EE2-41B2-BC46-90A61ECC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A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B78E"/>
                </a:solidFill>
                <a:latin typeface="Menlo"/>
                <a:ea typeface="Menlo"/>
                <a:cs typeface="Menlo"/>
              </a:rPr>
              <a:t>DEMO READY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7413C1-964D-479B-B8C0-BE674FD8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68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C9183"/>
                </a:solidFill>
                <a:latin typeface="Menlo"/>
                <a:ea typeface="Menlo"/>
                <a:cs typeface="Menlo"/>
              </a:rPr>
              <a:t>Adaptive Payment Assurance Range  •  Dylan Moraes</a:t>
            </a:r>
          </a:p>
        </p:txBody>
      </p:sp>
    </p:spTree>
    <p:extLst>
      <p:ext uri="{BB962C8B-B14F-4D97-AF65-F5344CB8AC3E}">
        <p14:creationId xmlns:p14="http://schemas.microsoft.com/office/powerpoint/2010/main" val="1507030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2026-08-31T09:41:07.1960000Z</dcterms:created>
  <dcterms:modified xsi:type="dcterms:W3CDTF">2026-08-31T09:41:07.1960000Z</dcterms:modified>
</coreProperties>
</file>