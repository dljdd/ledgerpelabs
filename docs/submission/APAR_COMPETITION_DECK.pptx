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1b5a24997384044" /><Relationship Type="http://schemas.openxmlformats.org/officeDocument/2006/relationships/extended-properties" Target="/docProps/app.xml" Id="Rd76c66686b3b4d03" /><Relationship Type="http://schemas.openxmlformats.org/officeDocument/2006/relationships/officeDocument" Target="/ppt/presentation.xml" Id="R03acabb985e6449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596405537454097"/>
  </p:sldMasterIdLst>
  <p:notesMasterIdLst>
    <p:notesMasterId xmlns:r="http://schemas.openxmlformats.org/officeDocument/2006/relationships" r:id="R570b005f04ee40a5"/>
  </p:notesMasterIdLst>
  <p:sldIdLst>
    <p:sldId xmlns:r="http://schemas.openxmlformats.org/officeDocument/2006/relationships" id="256" r:id="R0b56787107de4416"/>
    <p:sldId xmlns:r="http://schemas.openxmlformats.org/officeDocument/2006/relationships" id="257" r:id="R4554b7a691e84368"/>
    <p:sldId xmlns:r="http://schemas.openxmlformats.org/officeDocument/2006/relationships" id="258" r:id="Rb6d7cb6c690547a3"/>
    <p:sldId xmlns:r="http://schemas.openxmlformats.org/officeDocument/2006/relationships" id="259" r:id="R63140776d4e54952"/>
    <p:sldId xmlns:r="http://schemas.openxmlformats.org/officeDocument/2006/relationships" id="260" r:id="R5569c5c73a0c46ae"/>
    <p:sldId xmlns:r="http://schemas.openxmlformats.org/officeDocument/2006/relationships" id="261" r:id="Rd1b5af351b064233"/>
    <p:sldId xmlns:r="http://schemas.openxmlformats.org/officeDocument/2006/relationships" id="262" r:id="R56b4491126e74e72"/>
    <p:sldId xmlns:r="http://schemas.openxmlformats.org/officeDocument/2006/relationships" id="263" r:id="Rbd26517a9da54114"/>
    <p:sldId xmlns:r="http://schemas.openxmlformats.org/officeDocument/2006/relationships" id="264" r:id="R2cc1af7360124e34"/>
    <p:sldId xmlns:r="http://schemas.openxmlformats.org/officeDocument/2006/relationships" id="265" r:id="Rae3fe964d4264616"/>
    <p:sldId xmlns:r="http://schemas.openxmlformats.org/officeDocument/2006/relationships" id="266" r:id="Rd5a62c8f8af243c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894d664771149ed" /><Relationship Type="http://schemas.openxmlformats.org/officeDocument/2006/relationships/slideMaster" Target="/ppt/slideMasters/slideMaster1.xml" Id="R0596405537454097" /><Relationship Type="http://schemas.openxmlformats.org/officeDocument/2006/relationships/notesMaster" Target="/ppt/notesMasters/notesMaster1.xml" Id="R570b005f04ee40a5" /><Relationship Type="http://schemas.openxmlformats.org/officeDocument/2006/relationships/presProps" Target="/ppt/presProps.xml" Id="Rbb8665e7dcc94007" /><Relationship Type="http://schemas.openxmlformats.org/officeDocument/2006/relationships/tableStyles" Target="/ppt/tableStyles.xml" Id="R99007ae8d5bd4b49" /><Relationship Type="http://schemas.openxmlformats.org/officeDocument/2006/relationships/slide" Target="/ppt/slides/slide1.xml" Id="R0b56787107de4416" /><Relationship Type="http://schemas.openxmlformats.org/officeDocument/2006/relationships/slide" Target="/ppt/slides/slide2.xml" Id="R4554b7a691e84368" /><Relationship Type="http://schemas.openxmlformats.org/officeDocument/2006/relationships/slide" Target="/ppt/slides/slide3.xml" Id="Rb6d7cb6c690547a3" /><Relationship Type="http://schemas.openxmlformats.org/officeDocument/2006/relationships/slide" Target="/ppt/slides/slide4.xml" Id="R63140776d4e54952" /><Relationship Type="http://schemas.openxmlformats.org/officeDocument/2006/relationships/slide" Target="/ppt/slides/slide5.xml" Id="R5569c5c73a0c46ae" /><Relationship Type="http://schemas.openxmlformats.org/officeDocument/2006/relationships/slide" Target="/ppt/slides/slide6.xml" Id="Rd1b5af351b064233" /><Relationship Type="http://schemas.openxmlformats.org/officeDocument/2006/relationships/slide" Target="/ppt/slides/slide7.xml" Id="R56b4491126e74e72" /><Relationship Type="http://schemas.openxmlformats.org/officeDocument/2006/relationships/slide" Target="/ppt/slides/slide8.xml" Id="Rbd26517a9da54114" /><Relationship Type="http://schemas.openxmlformats.org/officeDocument/2006/relationships/slide" Target="/ppt/slides/slide9.xml" Id="R2cc1af7360124e34" /><Relationship Type="http://schemas.openxmlformats.org/officeDocument/2006/relationships/slide" Target="/ppt/slides/slide10.xml" Id="Rae3fe964d4264616" /><Relationship Type="http://schemas.openxmlformats.org/officeDocument/2006/relationships/slide" Target="/ppt/slides/slide11.xml" Id="Rd5a62c8f8af243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8d0c06c68e141b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d9d6aeb315a4ada" /><Relationship Type="http://schemas.openxmlformats.org/officeDocument/2006/relationships/notesMaster" Target="/ppt/notesMasters/notesMaster1.xml" Id="R0daa9711a503462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e7bccec078d4fe1" /><Relationship Type="http://schemas.openxmlformats.org/officeDocument/2006/relationships/notesMaster" Target="/ppt/notesMasters/notesMaster1.xml" Id="R6f16d917455944f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a298fe102cb4c9d" /><Relationship Type="http://schemas.openxmlformats.org/officeDocument/2006/relationships/notesMaster" Target="/ppt/notesMasters/notesMaster1.xml" Id="R9aec51bdb4824aa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f92f29a7ca44b4c" /><Relationship Type="http://schemas.openxmlformats.org/officeDocument/2006/relationships/notesMaster" Target="/ppt/notesMasters/notesMaster1.xml" Id="R83af116d59d4468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a19d9ab05af4403" /><Relationship Type="http://schemas.openxmlformats.org/officeDocument/2006/relationships/notesMaster" Target="/ppt/notesMasters/notesMaster1.xml" Id="R843d2e5b54d84b5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2ed2806e45f4b0f" /><Relationship Type="http://schemas.openxmlformats.org/officeDocument/2006/relationships/notesMaster" Target="/ppt/notesMasters/notesMaster1.xml" Id="Ra7bdee81179d45c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874813a111b450b" /><Relationship Type="http://schemas.openxmlformats.org/officeDocument/2006/relationships/notesMaster" Target="/ppt/notesMasters/notesMaster1.xml" Id="Rb3577f2f29c140b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515117885d04805" /><Relationship Type="http://schemas.openxmlformats.org/officeDocument/2006/relationships/notesMaster" Target="/ppt/notesMasters/notesMaster1.xml" Id="Rdc9975335df14e4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6e51d86e3514658" /><Relationship Type="http://schemas.openxmlformats.org/officeDocument/2006/relationships/notesMaster" Target="/ppt/notesMasters/notesMaster1.xml" Id="Rcfdd15f5cf80465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cb5a29a10514c34" /><Relationship Type="http://schemas.openxmlformats.org/officeDocument/2006/relationships/notesMaster" Target="/ppt/notesMasters/notesMaster1.xml" Id="Rb075e7b60c08421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152a6c29c034056" /><Relationship Type="http://schemas.openxmlformats.org/officeDocument/2006/relationships/notesMaster" Target="/ppt/notesMasters/notesMaster1.xml" Id="Rdf3b45f3081143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problem shift: AI changes attacker capability, so the unit of assurance becomes the campaign.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docs/demo/screenshots/apar-console-overview-desktop.png</a:t>
            </a:r>
          </a:p>
          <a:p xmlns:a="http://schemas.openxmlformats.org/drawingml/2006/main">
            <a:r>
              <a:t>- SOLUTION_SPEC.md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 entries stop at a fraud classifier. APAR models the operating capability GenAI adds and tests the downstream control system.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SOLUTION_SPEC.md</a:t>
            </a:r>
          </a:p>
          <a:p xmlns:a="http://schemas.openxmlformats.org/drawingml/2006/main">
            <a:r>
              <a:t>- https://www.bis.org/speeches/20260608-strengthening-security-european-payments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Emphasize that verification and promotion are separate from probabilistic scoring.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docs/02-system-architecture.md</a:t>
            </a:r>
          </a:p>
          <a:p xmlns:a="http://schemas.openxmlformats.org/drawingml/2006/main">
            <a:r>
              <a:t>- docs/08-security-and-governance.md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Tell the story of intellectual honesty: the architecture improved because infeasible, incomplete, and leaky results were rejected.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docs/submission/RESEARCH_AND_EXPERIMENT_JOURNEY.md</a:t>
            </a:r>
          </a:p>
          <a:p xmlns:a="http://schemas.openxmlformats.org/drawingml/2006/main">
            <a:r>
              <a:t>- docs/experiments/defense-v5-rejected-7410a64-record.json</a:t>
            </a:r>
          </a:p>
          <a:p xmlns:a="http://schemas.openxmlformats.org/drawingml/2006/main">
            <a:r>
              <a:t>- docs/experiments/defense-v5-rejected-7f3b78d-record.json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graph arm improves the no-graph frontier at a small latency cost. The full hybrid proves why recall alone is unsafe.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evidence/sentinel-v5-recovered-metrics/verified-report.json</a:t>
            </a:r>
          </a:p>
          <a:p xmlns:a="http://schemas.openxmlformats.org/drawingml/2006/main">
            <a:r>
              <a:t>- docs/submission/EVALUATION_AND_LIMITATIONS.md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accepted Stage 30 ensemble_with_graph bundle. The scorer is real; the scenarios are curated replay checks.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demo/sentinel-v5/manifest.json</a:t>
            </a:r>
          </a:p>
          <a:p xmlns:a="http://schemas.openxmlformats.org/drawingml/2006/main">
            <a:r>
              <a:t>- demo/sentinel-v5/spec.json</a:t>
            </a:r>
          </a:p>
          <a:p xmlns:a="http://schemas.openxmlformats.org/drawingml/2006/main">
            <a:r>
              <a:t>- docs/demo/screenshots/apar-console-replay-desktop.png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to the linked mule node and genuine deterministic payment edges. Do not invent an analyst productivity number.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docs/demo/screenshots/apar-console-investigation-desktop.png</a:t>
            </a:r>
          </a:p>
          <a:p xmlns:a="http://schemas.openxmlformats.org/drawingml/2006/main">
            <a:r>
              <a:t>- web/public/data/console-evidence.json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TrustVerifier is a separate authorization-integrity claim—not graph model performance. A probabilistic score cannot repair invalid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src/apar/trust/verifier.py</a:t>
            </a:r>
          </a:p>
          <a:p xmlns:a="http://schemas.openxmlformats.org/drawingml/2006/main">
            <a:r>
              <a:t>- tests/trust/test_verifier.py</a:t>
            </a:r>
          </a:p>
          <a:p xmlns:a="http://schemas.openxmlformats.org/drawingml/2006/main">
            <a:r>
              <a:t>- https://www.mastercard.com/us/en/news-and-trends/stories/2026/mastercard-agentic-commerce-vision.html</a:t>
            </a:r>
          </a:p>
          <a:p xmlns:a="http://schemas.openxmlformats.org/drawingml/2006/main">
            <a:r>
              <a:t>- https://www.nccoe.nist.gov/sites/default/files/2026-02/accelerating-the-adoption-of-software-and-ai-agent-identity-and-authorization-concept-paper.pdf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that every evidence step stays auditable and that promotion remains a human decision; recovered metrics remain diagnostics.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demo/sentinel-v5/manifest.json</a:t>
            </a:r>
          </a:p>
          <a:p xmlns:a="http://schemas.openxmlformats.org/drawingml/2006/main">
            <a:r>
              <a:t>- evidence/sentinel-v5-recovered-metrics/verified-report.json</a:t>
            </a:r>
          </a:p>
          <a:p xmlns:a="http://schemas.openxmlformats.org/drawingml/2006/main">
            <a:r>
              <a:t>- docs/submission/RELEASE_CHECKLIST.md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is the trust moment. Be explicit about what remains future work and why that does not diminish the working prototype.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docs/submission/EVALUATION_AND_LIMITATIONS.md</a:t>
            </a:r>
          </a:p>
          <a:p xmlns:a="http://schemas.openxmlformats.org/drawingml/2006/main">
            <a:r>
              <a:t>- docs/submission/MODEL_CARD.md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product promise and transition into the live console walkthrough.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docs/submission/COMMERCIAL_AND_DEPLOYMENT_PLAN.md</a:t>
            </a:r>
          </a:p>
          <a:p xmlns:a="http://schemas.openxmlformats.org/drawingml/2006/main">
            <a:r>
              <a:t>- docs/submission/FIVE_MINUTE_WALKTHROUGH.md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092e2dd8f048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ad22d29c4b94128" /><Relationship Type="http://schemas.openxmlformats.org/officeDocument/2006/relationships/slideLayout" Target="/ppt/slideLayouts/slideLayout1.xml" Id="R3c7dbd5bbff4406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7dbd5bbff4406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4a9f678692409e" /><Relationship Type="http://schemas.openxmlformats.org/officeDocument/2006/relationships/image" Target="/ppt/media/image.png" Id="Raf2ed721ac014bee" /><Relationship Type="http://schemas.openxmlformats.org/officeDocument/2006/relationships/notesSlide" Target="/ppt/notesSlides/notesSlide1.xml" Id="Rc7f704dbd988412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6d6021120b4146" /><Relationship Type="http://schemas.openxmlformats.org/officeDocument/2006/relationships/notesSlide" Target="/ppt/notesSlides/notesSlide2.xml" Id="R9a4e91292c5f4c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bcf8196e4947e7" /><Relationship Type="http://schemas.openxmlformats.org/officeDocument/2006/relationships/notesSlide" Target="/ppt/notesSlides/notesSlide3.xml" Id="Raff1f21fdf1449c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044fc9b90e468d" /><Relationship Type="http://schemas.openxmlformats.org/officeDocument/2006/relationships/notesSlide" Target="/ppt/notesSlides/notesSlide4.xml" Id="R1d4fa46e41b04ea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7046cc5a7f4438" /><Relationship Type="http://schemas.openxmlformats.org/officeDocument/2006/relationships/notesSlide" Target="/ppt/notesSlides/notesSlide5.xml" Id="Rc92fb5d95375431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f477f9897c4792" /><Relationship Type="http://schemas.openxmlformats.org/officeDocument/2006/relationships/image" Target="/ppt/media/image2.png" Id="Re7b93f326ffa4926" /><Relationship Type="http://schemas.openxmlformats.org/officeDocument/2006/relationships/notesSlide" Target="/ppt/notesSlides/notesSlide6.xml" Id="R1f60d0817f8a4b4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21d0c9ac20480f" /><Relationship Type="http://schemas.openxmlformats.org/officeDocument/2006/relationships/image" Target="/ppt/media/image3.png" Id="R9fd001e6212042d1" /><Relationship Type="http://schemas.openxmlformats.org/officeDocument/2006/relationships/notesSlide" Target="/ppt/notesSlides/notesSlide7.xml" Id="R6f46bcbefd15446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a0ae0179764772" /><Relationship Type="http://schemas.openxmlformats.org/officeDocument/2006/relationships/image" Target="/ppt/media/image4.png" Id="Re83780bd905f456e" /><Relationship Type="http://schemas.openxmlformats.org/officeDocument/2006/relationships/notesSlide" Target="/ppt/notesSlides/notesSlide8.xml" Id="R485a8a5671df475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77aff9fff54890" /><Relationship Type="http://schemas.openxmlformats.org/officeDocument/2006/relationships/notesSlide" Target="/ppt/notesSlides/notesSlide9.xml" Id="R32e0784b43134ba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dc681c044d41b3" /><Relationship Type="http://schemas.openxmlformats.org/officeDocument/2006/relationships/notesSlide" Target="/ppt/notesSlides/notesSlide10.xml" Id="R328882bf98724f1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b248936bdb485f" /><Relationship Type="http://schemas.openxmlformats.org/officeDocument/2006/relationships/notesSlide" Target="/ppt/notesSlides/notesSlide11.xml" Id="Re3283d34a8de4a2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92663E-6580-4554-A00C-0F5E8779F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MASTERCARD INNOVATION CHALLENGE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9DA1BB-4D05-4128-81DC-1AC7C7B4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5429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Assure the campaign,</a:t>
            </a:r>
          </a:p>
          <a:p xmlns:a="http://schemas.openxmlformats.org/drawingml/2006/main">
            <a:pPr algn="l">
              <a:buNone/>
              <a:defRPr sz="36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not just the transaction.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711A6B-9BAD-4A44-848D-99A3A703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5143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APAR turns emerging GenAI payment threats into rail-correct synthetic campaigns, tests layered defenses, and preserves a human promotion boundary.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E8235-FDA9-43D6-87E0-C584F5E7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05350"/>
            <a:ext cx="10287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E56285-847C-4F05-8D28-96361E44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387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SYNTHETIC • OFFLINE • REPLAYABLE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0E3118-79A2-4E52-AA96-F1A9B531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Dylan Moraes  •  Competition submission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F3D438-2FED-421C-AAD4-B9AA8E75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81000"/>
            <a:ext cx="5619750" cy="5810250"/>
          </a:xfrm>
          <a:prstGeom xmlns:a="http://schemas.openxmlformats.org/drawingml/2006/main" prst="roundRect">
            <a:avLst>
              <a:gd name="adj" fmla="val 20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2ed721ac014bee"/>
          <a:srcRect xmlns:a="http://schemas.openxmlformats.org/drawingml/2006/main" l="0" t="0" r="0" b="326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457200"/>
            <a:ext cx="5467350" cy="56578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9254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B484F2-D6AC-444D-BB8F-603C7F80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F699B5-7D53-4259-B79D-1C737059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GenAI changes the operating model of fraud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D661AD-CD7E-4E7E-9AA9-2B4241A2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17526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425D1A-203C-4729-9D8D-68871530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C72A8E-F62A-4165-A85D-42F5593A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19050" cy="19621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EF524F-3140-488A-8E1B-94AF83E66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526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E157B-2462-4EEE-8F24-EAE16D215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98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PERSONALIZE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29E8B7-57D3-427B-B722-926E2481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8130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Victim-specific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content at scale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CA1689-EE34-406F-8411-5A74F0A5E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552700"/>
            <a:ext cx="304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0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B5F5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7B6EA2-9F09-454B-9E6A-0A0F2999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52600"/>
            <a:ext cx="19050" cy="19621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508FFE-04DF-46AB-8A4A-C1DD4EF1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526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20AA15-3BD9-44B8-860A-0E9ABD06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2098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ITERATE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8F79FE-6BBE-4379-B74B-DF3FB36F7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8130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Faster adaptation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to feedback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0E34FF-54A1-43F3-8562-DCF3F16A9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552700"/>
            <a:ext cx="304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0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B5F5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7DF7B4-1532-422C-BD3F-21120F5B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752600"/>
            <a:ext cx="19050" cy="19621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80FEA0-509C-4AFE-8B75-1A3A2CE1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7526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44172-8B30-48CA-BBEE-7AE0329B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098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COORDINATE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E68EBF-FB23-4351-A305-B1D3FCAC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8130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Many entities, rails,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and time windows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9716EC-C372-45C8-854A-F1D546F86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552700"/>
            <a:ext cx="304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0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B5F5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A03DAA-3ED9-48FA-9106-C1967A26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752600"/>
            <a:ext cx="19050" cy="19621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EB40B1-71B1-4FC5-BAF9-58D45B15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7526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73C54B-FFF0-4F00-BDE5-63B0F2BBF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098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DELEGATE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478932-5C70-48E0-9539-698D55629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78130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Agents can act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on user intent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31CAA6-5A39-4FCC-9E3C-9094530A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24350"/>
            <a:ext cx="11391900" cy="1905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03B00E-4C15-4A3D-B199-1C4C53265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339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DBDB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Transaction classifier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6F0FE0-C803-46E6-AA2B-2A36AA22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4958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B5F5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99BE24-2653-4B91-B96D-424A2351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457700"/>
            <a:ext cx="4476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Campaign-aware assurance system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7D693D-3D10-4EFC-B311-BF8F48BE5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20065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ADAD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Behavior + lifecycle + economics + authority + governance</a:t>
            </a:r>
          </a:p>
        </p:txBody>
      </p:sp>
    </p:spTree>
    <p:extLst>
      <p:ext uri="{BB962C8B-B14F-4D97-AF65-F5344CB8AC3E}">
        <p14:creationId xmlns:p14="http://schemas.microsoft.com/office/powerpoint/2010/main" val="6564846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8E71A0-BB96-4633-B17F-AAB56CE7C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92E93A-8A32-46F8-90F3-4F480F65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One assurance loop connects five control planes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B2BC74-D02D-4E32-87E6-1C212AF5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8D2AB8-7E7E-4B51-A432-7B1D10E9C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4B38F3-2B05-48DF-964F-EDAEC1BE2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2038350" cy="9525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32D783-9CCC-471F-85F8-D609BCA1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55D7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IDENTIFY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5C6E24-E084-42DB-8E6E-36B19F8A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Evidence + sources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threat registry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1086F3-45A5-4843-BC26-D3F13D1E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7241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79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1D7F37-7B39-4C4E-8247-0CE58910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790700"/>
            <a:ext cx="2038350" cy="9525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E90910-A234-44FA-BC3F-418B0ED3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GENERATE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41E12D-CE70-4679-A81F-72740733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Rail + ledger-correct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campaigns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689BDA-0EB6-4E36-A45E-B3D2F4C4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7241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79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895886-684D-49CF-B80C-2DB479F5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90700"/>
            <a:ext cx="2038350" cy="28575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14A8B5-8AB2-478D-B811-834B60CA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DEFEND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3C8AF7-80EC-442D-8707-F53570CD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Rules + calibrated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graph ensemble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074E15-B980-4636-903F-985C839EC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241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79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6D626A-1403-4CD2-A12D-06A95337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790700"/>
            <a:ext cx="2038350" cy="9525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7AFC17-8BCD-4407-A060-4D00FFF5B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55D7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VERIFY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48FF4D-AF69-4539-85B4-8441188A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Identity + intent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integrity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D6B951-C1AF-4503-BBBC-6B23C226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241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79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43EEB4-3996-4701-97EF-CBCE4D70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2038350" cy="9525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00AB52-B030-4423-AC0E-56CB05FF1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GOVERN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D7AD7E-C974-468E-8DF3-9059A3254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Controls + human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promotion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73B34A-C69B-4D03-9BF6-0E6E3E6B5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00575"/>
            <a:ext cx="9410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85B646-8DE4-4F45-A0B0-6272ABC2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5624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9AF867-DEA6-4A4E-909D-9754E401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5624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9E9CEF-DB64-40B8-A7B7-64D4E8D8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5624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664650-F678-4CAF-AE53-8D4B7093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5624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04AF8B-026C-4250-A7DD-6B92CB3D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5624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BAB63E-A8ED-42EE-A3CF-26C156254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00625"/>
            <a:ext cx="876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Bounded feedback returns failed controls to the research backlog—never directly to deployment.</a:t>
            </a:r>
          </a:p>
        </p:txBody>
      </p:sp>
    </p:spTree>
    <p:extLst>
      <p:ext uri="{BB962C8B-B14F-4D97-AF65-F5344CB8AC3E}">
        <p14:creationId xmlns:p14="http://schemas.microsoft.com/office/powerpoint/2010/main" val="11735391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1B39A34-A16C-4371-B0ED-0B32FF06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4E5A4F-D016-40F4-9D62-40CCB159F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Failed experiments shaped the winning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B412FF-CB03-43C3-9FCE-4CBF56E7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D9A62F-7882-41E3-9A59-F2FC2CB1A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540ACF-1A94-48A2-8F7C-481C6549E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9900"/>
            <a:ext cx="1047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B7B32-7693-4CBF-89A4-E6E8DECD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90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D4FB84-F785-44A5-9D96-25FA15B1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33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V1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C269B9-B11B-4F6D-928E-95DFAE63F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Workload cap failed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2A8C52-2C27-4EEE-8F67-10C009312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1.7857% review floor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vs 1% cap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69DC8-4B40-4E66-8429-BC4F4A942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2962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B41893-C9B3-4A13-9AD9-D7004D3D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314700"/>
            <a:ext cx="190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E0BB46-A9AF-4FDA-BCA1-E9435D66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4671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V4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7EFD27-C315-427E-A562-1F15C005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78142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6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Missing metrics failed closed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AA8DB2-C8FF-454B-BA6D-C479C218A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19100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Calibration + alert time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were not invented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04BE53-B6B3-4A21-8A34-799D07A35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962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3187B9-4A79-4D33-A23D-742599F52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581150"/>
            <a:ext cx="190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299CBB-4F88-4770-8BE4-C912C22A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733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V5a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A51109-9D7E-4E1E-ADCA-E512D13E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04787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81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Perfect score rejected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5A39DE-864A-4A8E-99DD-948EDACA3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57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Future graph leakage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removed and recorded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041B8F-B7E4-4A4B-8904-F67067C9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962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3C207A-87BA-4BC7-8A92-BAB899BC4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314700"/>
            <a:ext cx="190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FF829D-AFDC-4139-985A-3499B2FD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4671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V5b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2AC6D8-B4BD-4B15-9AEA-F4DE05AB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78142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Real rail 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3E71EB-9FC8-468C-8F28-7F935AEB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19100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439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Generator → simulator →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rail → ledger → row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FC3223-926F-46F4-B428-B694D6A9E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962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78896D-CDFE-424F-969C-6DB1EC30F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581150"/>
            <a:ext cx="190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D021B6-52F3-447D-8B1C-1883BE3C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733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5B78E"/>
                </a:solidFill>
                <a:latin typeface="Georgia"/>
                <a:ea typeface="Georgia"/>
                <a:cs typeface="Georgia"/>
              </a:rPr>
              <a:t>V5c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F989FA-E23B-408C-91D9-2483D28FD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04787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Graph arm selected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C22E0A-D7CE-4530-9B41-1D55C1F04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457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Best frontier;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full hybrid rejected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897D1B-557D-4C5C-94CB-EAEF24EF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2962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0AE123-251A-4440-80C6-2AC1CD57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911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Novelty: not a single algorithm—an evidence-governed loop that learns from its own failure modes.</a:t>
            </a:r>
          </a:p>
        </p:txBody>
      </p:sp>
    </p:spTree>
    <p:extLst>
      <p:ext uri="{BB962C8B-B14F-4D97-AF65-F5344CB8AC3E}">
        <p14:creationId xmlns:p14="http://schemas.microsoft.com/office/powerpoint/2010/main" val="7770884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8169E4C-3AFC-4B96-8180-62EA8447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435148-CD4B-4094-9C33-E8AB52A84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Graph context wins the operational frontier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352153-FE07-4563-864B-D832AA839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A50342-EF95-48DD-B856-5D273C791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B7E7FC-9518-4326-9539-49F6CA33F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Verified recovered diagnostics — synthetic and non-authoritative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5B22FF-949B-42A4-974F-39A2D9EA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0"/>
            <a:ext cx="2857500" cy="4572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5715">
            <a:solidFill>
              <a:srgbClr val="6B5F5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C2E6F3-BE39-41A1-8A97-59FCC53D4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383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ARM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BE3D17-94DA-435F-9B42-82549870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905000"/>
            <a:ext cx="1428750" cy="4572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5715">
            <a:solidFill>
              <a:srgbClr val="6B5F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1071C1-C1CA-4DAC-B6BF-89ADD3C07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383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RECALL 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E90ABE-15A1-46E1-AD50-6977D528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905000"/>
            <a:ext cx="1428750" cy="4572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5715">
            <a:solidFill>
              <a:srgbClr val="6B5F5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262B33-3654-4915-AC8D-F6E5623B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0383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PRECISION 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F09A4D-79E6-4F36-BB2F-F5AF9071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905000"/>
            <a:ext cx="1428750" cy="4572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5715">
            <a:solidFill>
              <a:srgbClr val="6B5F5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2BE949-169C-49A4-8C4E-3A8627DF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383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F1 %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3B9345-5840-4D59-84AB-B4090A34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905000"/>
            <a:ext cx="1809750" cy="4572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5715">
            <a:solidFill>
              <a:srgbClr val="6B5F5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1F6432-E263-4AF4-A618-C1F6FE7C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03835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FALSE-DECLINE 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DA488B-7323-4C16-AE1D-810C6640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905000"/>
            <a:ext cx="1428750" cy="4572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5715">
            <a:solidFill>
              <a:srgbClr val="6B5F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0EBB97-A061-43A2-BE0E-029ACCC50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0383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P95 MS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691676-6985-406A-ACE3-7C07D8A5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62200"/>
            <a:ext cx="285750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4FD9BD-704F-48A3-8F67-CBEB8B87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562225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Rules only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EE30EE-07CD-452F-AE1E-88D1460A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3622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DCBDC0-8838-4776-B1F5-060B2B6ED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5622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85.95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76A15B-3166-440A-B04B-CE175FD2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3622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4D1887-F347-404E-AD00-37C2CDA1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5622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14.88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7B6CFD-FD78-421F-AF42-510ED7EB8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622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088DCA-86F3-4E4E-A5EB-A9329682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622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25.37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54517A-D550-4687-BA9F-3E3244640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362200"/>
            <a:ext cx="1809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8E35B8-C038-4061-A7C4-BF1888B9B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62225"/>
            <a:ext cx="161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87.44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056346-B65E-44CE-A073-73CB7DAAE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3622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5A1112-CFD1-4CFA-8859-F851C76BA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5622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4.06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450F37-3028-47E1-AEEA-8DB6CD67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90850"/>
            <a:ext cx="285750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E7C94A-3FE2-429F-A6F1-FA3AB4F0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190875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Ensemble • no graph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019D65-A740-48C9-ABA4-A88625DBC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9908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7723B9B-FBEE-477B-86E6-2D7209477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908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99.74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F708E9-4167-410F-B92C-763CE4F89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9908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83FAC0-F1BF-4563-9D50-7A900FC2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908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94.76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65EEC0A-60E3-4DC3-A84B-B530D739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9908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961805A-CCF5-42BA-9991-CD41E6A7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1908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97.19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4B89D7B-2EA8-41DC-9852-502D21C9D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990850"/>
            <a:ext cx="1809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3758564-BF5C-4B06-871C-5E8B186E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190875"/>
            <a:ext cx="161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0.000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EC26406-CB5A-4CBD-9ACD-BB52C66E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908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CF33F9-71E3-40A7-AF2F-6B91E58B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1908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3.38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8D2516-BE64-45A2-BFBE-2C1EA34B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0"/>
            <a:ext cx="285750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9150F"/>
          </a:solidFill>
          <a:ln xmlns:a="http://schemas.openxmlformats.org/drawingml/2006/main" w="7620">
            <a:solidFill>
              <a:srgbClr val="75B78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98D8831-A7F7-4456-B52B-D037F290F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9525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Ensemble • graph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25D003A-6208-436C-9EFE-534E04D1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195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9150F"/>
          </a:solidFill>
          <a:ln xmlns:a="http://schemas.openxmlformats.org/drawingml/2006/main" w="7620">
            <a:solidFill>
              <a:srgbClr val="75B78E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2295045-9FCE-469E-AA43-C10BE932A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8195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99.87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1D45669-F647-48AA-8BC8-C6CF8E36A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195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9150F"/>
          </a:solidFill>
          <a:ln xmlns:a="http://schemas.openxmlformats.org/drawingml/2006/main" w="7620">
            <a:solidFill>
              <a:srgbClr val="75B78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8F0514F-98D1-4C7B-A909-F4004276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195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95.88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9DBBD49-AE4F-4360-9CB9-8AF4A0C36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6195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9150F"/>
          </a:solidFill>
          <a:ln xmlns:a="http://schemas.openxmlformats.org/drawingml/2006/main" w="7620">
            <a:solidFill>
              <a:srgbClr val="75B78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45C2804-9E7E-4E49-BDD4-B4D6CA53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8195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97.83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0CEEAFB-7FBC-44A0-9166-F49C89A0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19500"/>
            <a:ext cx="1809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9150F"/>
          </a:solidFill>
          <a:ln xmlns:a="http://schemas.openxmlformats.org/drawingml/2006/main" w="7620">
            <a:solidFill>
              <a:srgbClr val="75B78E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AB6464C-9389-4F12-A8CE-A0831A440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819525"/>
            <a:ext cx="161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0.0037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3EFF361-43B1-489E-B878-A8CB077B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6195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9150F"/>
          </a:solidFill>
          <a:ln xmlns:a="http://schemas.openxmlformats.org/drawingml/2006/main" w="7620">
            <a:solidFill>
              <a:srgbClr val="75B78E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8A40690-74DA-4867-9C97-CC2A9BB5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8195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3.54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74AF650-D62D-4367-B7A9-33CE4A7D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48150"/>
            <a:ext cx="285750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57202A5-37A5-4D90-9165-EE5F3465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48175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Arial"/>
                <a:ea typeface="Arial"/>
                <a:cs typeface="Arial"/>
              </a:rPr>
              <a:t>Full hybrid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ED3B599-9993-40E2-925B-733BE865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2481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200C2E8-DEFE-4F09-93A0-06A22643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4481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Menlo"/>
                <a:ea typeface="Menlo"/>
                <a:cs typeface="Menlo"/>
              </a:rPr>
              <a:t>99.93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3B04B25-268D-40EA-9317-CE3C261D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2481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4A5B9C9-1578-4647-82F3-F0F36D1AD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481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Menlo"/>
                <a:ea typeface="Menlo"/>
                <a:cs typeface="Menlo"/>
              </a:rPr>
              <a:t>16.85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3BA11D0-47A1-4097-B213-4271D39BF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481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F3FEA46-FA18-41FF-8AF6-EBCDD253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4481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Menlo"/>
                <a:ea typeface="Menlo"/>
                <a:cs typeface="Menlo"/>
              </a:rPr>
              <a:t>28.83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10E3847-2C89-43AC-8EAD-637BD9C26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248150"/>
            <a:ext cx="1809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231CF3B-8398-45F9-99D9-51DE5F511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448175"/>
            <a:ext cx="161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Menlo"/>
                <a:ea typeface="Menlo"/>
                <a:cs typeface="Menlo"/>
              </a:rPr>
              <a:t>87.44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C2BBDF8-8D64-4C7D-81CC-B4592A912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2481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27B32FC-1618-48B1-9C6C-9173B28D0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4481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Menlo"/>
                <a:ea typeface="Menlo"/>
                <a:cs typeface="Menlo"/>
              </a:rPr>
              <a:t>19.74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894D657-EC04-4867-8F48-B0C242CF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11391900" cy="190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B4112FA-B1D1-4C01-927C-344ECE58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292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Precision  +1.12 pts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9DA86D9-C8AB-423C-98D7-4977BF69F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4292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Challenge  −0.23 pts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42C2595-7DD5-412F-A337-6F62744CA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4292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Latency  +0.16 ms p95</a:t>
            </a:r>
          </a:p>
        </p:txBody>
      </p:sp>
    </p:spTree>
    <p:extLst>
      <p:ext uri="{BB962C8B-B14F-4D97-AF65-F5344CB8AC3E}">
        <p14:creationId xmlns:p14="http://schemas.microsoft.com/office/powerpoint/2010/main" val="5579833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8AF068-8EF0-4EE3-8C40-1FA39E1D7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94CE5E-3628-485C-A26A-4AB81223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 small, portable model powers the live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6D5B39-90F6-4C6D-A927-08B30DDE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571FFA-EDD8-4C21-AAD1-0CC4B5DDD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675754-85B9-4C6D-B6B6-CB16BBCA5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524000"/>
            <a:ext cx="7258050" cy="4381500"/>
          </a:xfrm>
          <a:prstGeom xmlns:a="http://schemas.openxmlformats.org/drawingml/2006/main" prst="roundRect">
            <a:avLst>
              <a:gd name="adj" fmla="val 260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b93f326ffa4926"/>
          <a:srcRect xmlns:a="http://schemas.openxmlformats.org/drawingml/2006/main" l="0" t="33403" r="0" b="334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1600200"/>
            <a:ext cx="7105650" cy="4229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C38FD1-6841-4813-902E-1B1BD932E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00200"/>
            <a:ext cx="3886200" cy="9525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F296F9-7CD9-4919-94E4-BFD7AFFA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621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3 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44127B-DB6C-48FF-8DB8-EE9C2AA18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8192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CatBoost members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FC0702-D640-4130-AA4E-9783B55C4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90800"/>
            <a:ext cx="3886200" cy="9525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2EB3EC-6C03-4B35-8AEF-E88BC7958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527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46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624959-66BC-49F5-A910-DD84A4A0D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098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frozen causal features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D9100C-18CF-4A46-9870-6034931A6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81400"/>
            <a:ext cx="3886200" cy="9525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71D3CE-F99E-496D-BA73-1D89764B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433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68D815-9822-4869-BC81-8E48E792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004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hash-bound scenarios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4FFE03-0064-44B1-A505-CE279399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3886200" cy="190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8A9416-080C-4BED-B3D8-8096E007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339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75B78E"/>
                </a:solidFill>
                <a:latin typeface="Georgia"/>
                <a:ea typeface="Georgia"/>
                <a:cs typeface="Georgia"/>
              </a:rPr>
              <a:t>0.0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598A2E-8C78-44AB-AFC5-2814C2C0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910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max replay error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589769-56C1-4D5F-8AE7-38F5B9C3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562600"/>
            <a:ext cx="3886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9C9183"/>
                </a:solidFill>
                <a:latin typeface="Menlo"/>
                <a:ea typeface="Menlo"/>
                <a:cs typeface="Menlo"/>
              </a:rPr>
              <a:t>Approve • Challenge • Review hold • Decline hold</a:t>
            </a:r>
          </a:p>
        </p:txBody>
      </p:sp>
    </p:spTree>
    <p:extLst>
      <p:ext uri="{BB962C8B-B14F-4D97-AF65-F5344CB8AC3E}">
        <p14:creationId xmlns:p14="http://schemas.microsoft.com/office/powerpoint/2010/main" val="41124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FD68E1-79D2-4CCC-BF81-92E162F7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A3CB0E-30BD-45A1-89EA-C3560809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Investigators see one campaign—not twelve alerts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5E3F60-A0DF-4D72-BA8E-E3A43D09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97F21E-1326-4851-A3BB-0EFA7045A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BE2608-6910-438F-AF0B-F96A0DEA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47800"/>
            <a:ext cx="8191500" cy="4705350"/>
          </a:xfrm>
          <a:prstGeom xmlns:a="http://schemas.openxmlformats.org/drawingml/2006/main" prst="roundRect">
            <a:avLst>
              <a:gd name="adj" fmla="val 242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d001e6212042d1"/>
          <a:srcRect xmlns:a="http://schemas.openxmlformats.org/drawingml/2006/main" l="0" t="29622" r="0" b="29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52850" y="1524000"/>
            <a:ext cx="8039100" cy="4552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8C3AF7-540D-4F4A-9835-9C18A1D9A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81200"/>
            <a:ext cx="142875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537DFF-5802-4465-8AB6-5B0137C5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CASE-CENTRIC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0E059D-27B6-48C4-B8D7-9D3AC388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28850"/>
            <a:ext cx="104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159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14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247666-2BB4-4384-942C-39E8850C2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entities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6DB8A3-4D77-4A62-87F2-58695BDD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57550"/>
            <a:ext cx="104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159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10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565025-2457-4F55-A64C-F49B6798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3380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payment edges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7FC477-72AD-4A68-8416-B61BBE0D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152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159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$500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039F33-6B12-4F23-86F3-E7C7970D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8155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conserved synthetic ledger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6F911-99F4-48D9-BC64-2D0648C5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67350"/>
            <a:ext cx="2895600" cy="9525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4B0143-8A64-4A68-9EA6-1E5F98A6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C8BDAE"/>
                </a:solidFill>
                <a:latin typeface="Menlo"/>
                <a:ea typeface="Menlo"/>
                <a:cs typeface="Menlo"/>
              </a:rPr>
              <a:t>Analyst-time benefit: evidence pending</a:t>
            </a:r>
          </a:p>
        </p:txBody>
      </p:sp>
    </p:spTree>
    <p:extLst>
      <p:ext uri="{BB962C8B-B14F-4D97-AF65-F5344CB8AC3E}">
        <p14:creationId xmlns:p14="http://schemas.microsoft.com/office/powerpoint/2010/main" val="4502467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129D9E-812B-496A-A118-0BF290CF7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D80060-449E-4931-BDE6-E3D27223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Agentic commerce needs proof before probability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29148B-0A4E-4AA5-B3C9-234E2821A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6A3DD2-9BE6-4282-BA2B-B31D3373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B2484F-AC58-4835-BB5A-25561891C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466850"/>
            <a:ext cx="2724150" cy="4724400"/>
          </a:xfrm>
          <a:prstGeom xmlns:a="http://schemas.openxmlformats.org/drawingml/2006/main" prst="roundRect">
            <a:avLst>
              <a:gd name="adj" fmla="val 419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3780bd905f456e"/>
          <a:srcRect xmlns:a="http://schemas.openxmlformats.org/drawingml/2006/main" l="0" t="46500" r="0" b="306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77300" y="1543050"/>
            <a:ext cx="2571750" cy="4572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0D4F54-C653-4BDC-9C7E-C56958CE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3562350" cy="9525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BC2D07-670D-4814-9753-CA4719ED3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47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4BE0F4-E13B-4255-B8DE-3D896A56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971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0" b="0">
                <a:solidFill>
                  <a:srgbClr val="0A0907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73FD10-738D-4953-BD52-E364B539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14525"/>
            <a:ext cx="293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Agent identity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68E510-34E0-4FBA-9785-BAA35979C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38450"/>
            <a:ext cx="3562350" cy="9525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E80FBA-0F27-436B-A9A8-C7F0D88AA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90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42ECA4-B463-448E-AECF-7931C7C8A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114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0" b="0">
                <a:solidFill>
                  <a:srgbClr val="0A0907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51EE93-118E-4250-AC0B-F631AB06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57525"/>
            <a:ext cx="293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User mandate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BE6773-97DE-4494-8458-ABBD9997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3562350" cy="9525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BC9B34-3080-4FE7-B3BD-21AA317A0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33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3620FA-972C-4719-BC9D-FCEBCD4F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257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0" b="0">
                <a:solidFill>
                  <a:srgbClr val="0A0907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12D9FC-637A-4F2E-A26D-4707CB7FA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293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Scope + amount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A7346A-04B3-4F81-BD7F-B60CB218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95450"/>
            <a:ext cx="3562350" cy="9525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717796-EE45-4BD6-B52C-98317C25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47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AFF3B0-2D5F-4EE2-900B-BDAD1C5A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1971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0" b="0">
                <a:solidFill>
                  <a:srgbClr val="0A0907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C34312-6CA8-4DC7-A618-8197F9BFF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914525"/>
            <a:ext cx="293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Merchant + cart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FF3DF7-E154-412A-8C01-8DACFAEE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38450"/>
            <a:ext cx="3562350" cy="9525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B3EE82-ADDA-4574-8030-1D9BDE5F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90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89685E-1D89-44F3-9A24-854408BF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114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0" b="0">
                <a:solidFill>
                  <a:srgbClr val="0A0907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F87890-0DBC-4528-8D3C-411BEB31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057525"/>
            <a:ext cx="293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Expiry + nonce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3CF9C0-46F7-4D31-B78C-8BF23D3D8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81450"/>
            <a:ext cx="3562350" cy="9525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78BE65-271B-4705-BE5A-45770A485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333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2BD13B-AF36-4320-8C09-87E713C2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257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0" b="0">
                <a:solidFill>
                  <a:srgbClr val="0A0907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EB994B-DC2B-48EB-A2B7-EC78BE29D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200525"/>
            <a:ext cx="293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Replay rejection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D3EDCD-6FBB-425B-9BD1-4258D0CD3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76850"/>
            <a:ext cx="7467600" cy="1905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35E54"/>
          </a:solidFill>
          <a:ln xmlns:a="http://schemas.openxmlformats.org/drawingml/2006/main" w="0">
            <a:solidFill>
              <a:srgbClr val="E35E5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D275D9-7231-4A43-A4FA-47DEE38C1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28A80"/>
                </a:solidFill>
                <a:latin typeface="Menlo"/>
                <a:ea typeface="Menlo"/>
                <a:cs typeface="Menlo"/>
              </a:rPr>
              <a:t>DEFINITIVE FAILURE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18B4499-8506-4A2B-840B-97AE6571A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4292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DECLINE_HOLD before statistical risk</a:t>
            </a:r>
          </a:p>
        </p:txBody>
      </p:sp>
    </p:spTree>
    <p:extLst>
      <p:ext uri="{BB962C8B-B14F-4D97-AF65-F5344CB8AC3E}">
        <p14:creationId xmlns:p14="http://schemas.microsoft.com/office/powerpoint/2010/main" val="108109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F0DAA5-E113-477A-9C5D-CE4DB5174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511DBF-6493-4175-A006-C6FB0B19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Evidence governance is part of the product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3960D7-88EB-4353-A9E2-E8913DEF8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B1B290-2A6E-450E-BE60-92C63F98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D2E068-1AF3-4013-A53A-AC5D4D42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2038350" cy="9525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6FE0D1-9371-4158-82C9-D8FAD168C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910A1C-2805-4E76-AE96-4BFAE202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62200"/>
            <a:ext cx="1695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Causal features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32CF28-CB3B-4CD2-9819-4BD779B8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05150"/>
            <a:ext cx="169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Future append + equal-time isolation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AA49D0-70D1-47D4-ADB7-5E240350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962150"/>
            <a:ext cx="2038350" cy="9525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25B9C0-E3A5-4B82-8369-E410F52B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1526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4E335-F912-48B3-941B-4B430EE7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628900"/>
            <a:ext cx="1695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Executed controls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3CF7CA-BBFA-4828-B41C-C0BA73C87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371850"/>
            <a:ext cx="169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Shuffle, rename, leakage, single-class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2BAF2E-323C-4EBF-83BB-F71A4EE0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228850"/>
            <a:ext cx="2038350" cy="9525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CFB074-A7FC-4929-AD1B-F44CC2E8F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193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9C871F-35EF-48D6-9205-D984A73F3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895600"/>
            <a:ext cx="1695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Immutable 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DBC041-D6C6-4F9B-81D2-5957272C1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638550"/>
            <a:ext cx="169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Models, traces, metrics, manifests hashed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3E9FEF-1311-4BAF-86F8-E19F93CA4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95550"/>
            <a:ext cx="2038350" cy="9525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40FF9B-DF0A-4061-A874-3C92F4CDE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6860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0F5EEE-6FB7-4AF8-86B8-F31E33F1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62300"/>
            <a:ext cx="1695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Independent replay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C37BEF-52C1-4F17-9BB2-3E0903F7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05250"/>
            <a:ext cx="169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Fresh environment re-scores all 12 cases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9D6A41-815F-4891-9F0E-67F1CD19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762250"/>
            <a:ext cx="2038350" cy="28575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3A7652-22E8-4A17-B625-308582A2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9527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29D2F2-4F30-4046-A0AC-0511DCE23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429000"/>
            <a:ext cx="1695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Human promotion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34437D-98A1-407D-986C-CD93A2F7F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171950"/>
            <a:ext cx="169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8D8D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The model cannot approve itself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68F7B4-51C7-45F0-A451-BB14AFBB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05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9C9183"/>
                </a:solidFill>
                <a:latin typeface="Menlo"/>
                <a:ea typeface="Menlo"/>
                <a:cs typeface="Menlo"/>
              </a:rPr>
              <a:t>Portable bundle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25E6A8-7E85-4203-A413-F8E4B92E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102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52ed4c31…dbc900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F60CAA-7CB3-4128-9756-672E51FA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05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9C9183"/>
                </a:solidFill>
                <a:latin typeface="Menlo"/>
                <a:ea typeface="Menlo"/>
                <a:cs typeface="Menlo"/>
              </a:rPr>
              <a:t>Promotion boundary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25FA09-4E1D-4BB3-ABCD-4902E5736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4102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4A359"/>
                </a:solidFill>
                <a:latin typeface="Menlo"/>
                <a:ea typeface="Menlo"/>
                <a:cs typeface="Menlo"/>
              </a:rPr>
              <a:t>Human approval required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7121BD-8CF8-4F90-9C74-8A5E2F53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562600"/>
            <a:ext cx="238125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4A359"/>
          </a:solidFill>
          <a:ln xmlns:a="http://schemas.openxmlformats.org/drawingml/2006/main" w="0">
            <a:solidFill>
              <a:srgbClr val="D4A35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112C00-6F4F-488D-9B19-A629AE1FB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2578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D4A359"/>
                </a:solidFill>
                <a:latin typeface="Menlo"/>
                <a:ea typeface="Menlo"/>
                <a:cs typeface="Menlo"/>
              </a:rPr>
              <a:t>NO SELF-PROMOTION</a:t>
            </a:r>
          </a:p>
        </p:txBody>
      </p:sp>
    </p:spTree>
    <p:extLst>
      <p:ext uri="{BB962C8B-B14F-4D97-AF65-F5344CB8AC3E}">
        <p14:creationId xmlns:p14="http://schemas.microsoft.com/office/powerpoint/2010/main" val="57323889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AEF9E4-2BC6-44C6-BA04-75B741D87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20C569-FE8F-4580-B9E1-9D989F10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 sharp claim boundary makes the demo credible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6B2B55-68F4-4EB5-BBDC-77AAC282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3A4B30-D851-42D6-8BE3-64697B25C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CEF88A-807C-4FDC-8C79-F2B5A2E2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790700"/>
            <a:ext cx="9525" cy="360045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ACA2CC-0ADE-4898-BC3D-7ED5008E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57850"/>
            <a:ext cx="11391900" cy="9525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5DFE7C-6B56-4809-94B6-1D3D702A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669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WHAT WE PROVE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CC2535-680E-4920-9CA3-8194472CB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66900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28A80"/>
                </a:solidFill>
                <a:latin typeface="Menlo"/>
                <a:ea typeface="Menlo"/>
                <a:cs typeface="Menlo"/>
              </a:rPr>
              <a:t>WHAT WE DO NOT CLAIM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A25802-2019-41B4-8250-0277B6EE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3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D75E11-4201-48D3-AAE0-AB525599B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5745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Portable model loads and replays exactly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BE1162-1158-49F5-B1EB-9869F5390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3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C58EB2-10C8-4B61-A8CF-0443807D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Four rail-backed synthetic families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87E7A5-FD34-40ED-BCC9-9356BFB4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3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D6CD72-1875-4A36-9ACA-8DC4CC6B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Graph/no-graph architecture comparison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386EB5-6C7C-483E-A5C3-185B2145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3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75FDE6-BA21-422B-AD18-B08633A1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2910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Deterministic TrustVerifier integrity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21E399-0858-4F2E-B6BE-53BAADEE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3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B92827-6DD2-41F1-9026-EE2F2F6B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1965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Offline console + hash-bound fallback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614BC2-71D8-4ADA-BE13-04FC367FE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8A8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286A40-CA53-45C0-9B62-2844744B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574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Production or real-cardholder performance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76B2B0-FD25-4EEC-9845-DBBC019B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48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8A8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032866-3AC1-4E36-8FF4-9394E61D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4800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Production-readiness or scale evidence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2D8F7D-333C-4796-AEA0-2F56B281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385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8A8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EEDC30-A248-4F85-85C6-63AAE7215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385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External or multi-institution validation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45EA8A-260E-484B-B0EE-544E2C27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291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8A8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B885AA-B983-4F01-A8DC-6C6B6D1BE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2910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Autonomous model promotion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4DFDB2-CFA1-4445-8ABC-F864DF8B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8196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8A8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85FB39-5FAF-40D7-AF48-8F8F0DD3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8196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Claims beyond the demonstrated model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E8F08C-7ABB-4C28-B8DC-60AFC560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38850"/>
            <a:ext cx="1139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Synthetic evidence before assertion.</a:t>
            </a:r>
          </a:p>
        </p:txBody>
      </p:sp>
    </p:spTree>
    <p:extLst>
      <p:ext uri="{BB962C8B-B14F-4D97-AF65-F5344CB8AC3E}">
        <p14:creationId xmlns:p14="http://schemas.microsoft.com/office/powerpoint/2010/main" val="64042394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9A0D2F-F841-4A1B-8423-1BA2FFD9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B4976E-A983-47C7-8DC7-4EA13E68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From competition prototype to governed payment assurance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54D601-0DA1-4CA6-A9F8-2A074DC7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CBAFD3-7B63-432C-B161-EBE6D9F6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9A03DC-8513-4AF9-A87B-5C30FB21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2019300" cy="28575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41D32F-6B1E-48BA-AB70-7C48C4E60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4764A2-81E2-419E-AF5E-563783C0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5745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OFFLINE REPLAY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801511-C79A-4DEE-AFD7-C7DEE5C8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05150"/>
            <a:ext cx="1676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Authorized historical samples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16AA0E-B2BB-4EDE-A67B-1DEE40337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86050"/>
            <a:ext cx="26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974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BDA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27B163-8957-4436-A8A9-B9424A07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752600"/>
            <a:ext cx="2019300" cy="9525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04650C-07E1-4A23-809D-549CFB453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FC7E05-CBF7-41A4-8136-2D7678857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45745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SHADOW MODE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FCDBF0-97EA-4CAA-B4F7-231936D5E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105150"/>
            <a:ext cx="1676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Live features; no authority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9E37B0-DE99-45B9-8141-8DC2C46B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86050"/>
            <a:ext cx="26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974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BDA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87EF35-37C6-49A5-B2B4-DA79A7A41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752600"/>
            <a:ext cx="2019300" cy="9525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53F900-E5BC-47EC-A027-9AB9AA57E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6B16CC-AE1A-44D4-823B-42243301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5745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ASSISTED OPS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4BC6BB-51FC-4398-B420-2B642072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05150"/>
            <a:ext cx="1676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Human-controlled friction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FB66E6-EFA4-4E60-AD6C-A43C98DD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86050"/>
            <a:ext cx="26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974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BDA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098618-261C-4D2D-957B-C48A36E90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752600"/>
            <a:ext cx="2019300" cy="9525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98C0A7-E632-4BC1-9256-53A3D3CD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37F518-2174-44F7-8B7A-191E8368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45745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CHALLENGER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F0B773-B20B-49ED-91BF-AFECD0C30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05150"/>
            <a:ext cx="1676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Limited traffic + rollback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8F4431-0C6F-409B-ABBC-454071E2B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86050"/>
            <a:ext cx="26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974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BDA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438A20-CCD2-47F4-A072-05451441D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752600"/>
            <a:ext cx="2019300" cy="9525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54A78F-2519-4D09-A701-EF39BF59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FFC31E-2057-4A71-B953-BE2A90DC0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45745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GOVERNED SCALE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F97CA1-F276-4853-8878-83912FFFA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05150"/>
            <a:ext cx="1676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Continuous adversarial regression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613DF4-CF8A-40F4-9E97-D88F4CFB3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81500"/>
            <a:ext cx="11391900" cy="1905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14AED2-3C3C-4D7E-9670-CE713AFA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101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982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APAR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54AA32-3DA2-43BD-8CB7-7CC2BCF1E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572000"/>
            <a:ext cx="695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Assure the campaign. Verify the intent.</a:t>
            </a:r>
          </a:p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Promote only the evidence.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66D88A-E4C3-4419-984B-CCEAC40F0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819650"/>
            <a:ext cx="1581150" cy="3048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solidFill>
              <a:srgbClr val="0A090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1FAE6B-8EE2-41B2-BC46-90A61ECC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768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66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DEMO READY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77413C1-964D-479B-B8C0-BE674FD8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76950"/>
            <a:ext cx="628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Adaptive Payment Assurance Range  •  Dylan Moraes</a:t>
            </a:r>
          </a:p>
        </p:txBody>
      </p:sp>
    </p:spTree>
    <p:extLst>
      <p:ext uri="{BB962C8B-B14F-4D97-AF65-F5344CB8AC3E}">
        <p14:creationId xmlns:p14="http://schemas.microsoft.com/office/powerpoint/2010/main" val="15070309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2026-08-31T10:29:43.1590000Z</dcterms:created>
  <dcterms:modified xsi:type="dcterms:W3CDTF">2026-08-31T10:29:43.1590000Z</dcterms:modified>
</coreProperties>
</file>